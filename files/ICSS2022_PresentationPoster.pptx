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69" r:id="rId4"/>
    <p:sldId id="277" r:id="rId5"/>
    <p:sldId id="268" r:id="rId6"/>
    <p:sldId id="259" r:id="rId7"/>
    <p:sldId id="267" r:id="rId8"/>
    <p:sldId id="278" r:id="rId9"/>
    <p:sldId id="260" r:id="rId10"/>
    <p:sldId id="261" r:id="rId11"/>
    <p:sldId id="274" r:id="rId12"/>
    <p:sldId id="262" r:id="rId13"/>
    <p:sldId id="264" r:id="rId14"/>
    <p:sldId id="275" r:id="rId15"/>
    <p:sldId id="279" r:id="rId16"/>
    <p:sldId id="272" r:id="rId17"/>
    <p:sldId id="281" r:id="rId18"/>
    <p:sldId id="280"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3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A0A0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459A02-B265-4A3E-B270-F7443623705D}" v="5" dt="2022-12-12T03:19:32.1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4660"/>
  </p:normalViewPr>
  <p:slideViewPr>
    <p:cSldViewPr snapToGrid="0" showGuides="1">
      <p:cViewPr varScale="1">
        <p:scale>
          <a:sx n="123" d="100"/>
          <a:sy n="123" d="100"/>
        </p:scale>
        <p:origin x="114" y="186"/>
      </p:cViewPr>
      <p:guideLst>
        <p:guide orient="horz" pos="2328"/>
        <p:guide pos="38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bi Raj Khatiwada" userId="297af4dc-c8fe-4e2a-92f1-5144107ca77d" providerId="ADAL" clId="{958EBA68-8D4E-4DFB-876C-F945363D773D}"/>
    <pc:docChg chg="modSld sldOrd">
      <pc:chgData name="Kabi Raj Khatiwada" userId="297af4dc-c8fe-4e2a-92f1-5144107ca77d" providerId="ADAL" clId="{958EBA68-8D4E-4DFB-876C-F945363D773D}" dt="2022-12-12T12:00:03.407" v="59"/>
      <pc:docMkLst>
        <pc:docMk/>
      </pc:docMkLst>
      <pc:sldChg chg="ord">
        <pc:chgData name="Kabi Raj Khatiwada" userId="297af4dc-c8fe-4e2a-92f1-5144107ca77d" providerId="ADAL" clId="{958EBA68-8D4E-4DFB-876C-F945363D773D}" dt="2022-12-12T12:00:03.407" v="59"/>
        <pc:sldMkLst>
          <pc:docMk/>
          <pc:sldMk cId="3164589989" sldId="262"/>
        </pc:sldMkLst>
      </pc:sldChg>
      <pc:sldChg chg="addSp modSp mod">
        <pc:chgData name="Kabi Raj Khatiwada" userId="297af4dc-c8fe-4e2a-92f1-5144107ca77d" providerId="ADAL" clId="{958EBA68-8D4E-4DFB-876C-F945363D773D}" dt="2022-12-12T10:19:35.665" v="57" actId="20577"/>
        <pc:sldMkLst>
          <pc:docMk/>
          <pc:sldMk cId="2964813143" sldId="278"/>
        </pc:sldMkLst>
        <pc:spChg chg="add mod">
          <ac:chgData name="Kabi Raj Khatiwada" userId="297af4dc-c8fe-4e2a-92f1-5144107ca77d" providerId="ADAL" clId="{958EBA68-8D4E-4DFB-876C-F945363D773D}" dt="2022-12-12T10:19:35.665" v="57" actId="20577"/>
          <ac:spMkLst>
            <pc:docMk/>
            <pc:sldMk cId="2964813143" sldId="278"/>
            <ac:spMk id="3" creationId="{2D78E36C-72AC-87D9-FBB3-A0FA97FF9EBE}"/>
          </ac:spMkLst>
        </pc:spChg>
      </pc:sldChg>
    </pc:docChg>
  </pc:docChgLst>
</pc:chgInfo>
</file>

<file path=ppt/diagrams/_rels/data1.xml.rels><?xml version="1.0" encoding="UTF-8" standalone="yes"?>
<Relationships xmlns="http://schemas.openxmlformats.org/package/2006/relationships"><Relationship Id="rId1" Type="http://schemas.openxmlformats.org/officeDocument/2006/relationships/hyperlink" Target="https://www.sciencedirect.com/science/article/pii/S2212094718302044" TargetMode="External"/></Relationships>
</file>

<file path=ppt/diagrams/_rels/drawing1.xml.rels><?xml version="1.0" encoding="UTF-8" standalone="yes"?>
<Relationships xmlns="http://schemas.openxmlformats.org/package/2006/relationships"><Relationship Id="rId1" Type="http://schemas.openxmlformats.org/officeDocument/2006/relationships/hyperlink" Target="https://www.sciencedirect.com/science/article/pii/S2212094718302044" TargetMode="External"/></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75CE6D-EAA8-4609-BB80-BDE43316C71B}" type="doc">
      <dgm:prSet loTypeId="urn:microsoft.com/office/officeart/2005/8/layout/process4" loCatId="process" qsTypeId="urn:microsoft.com/office/officeart/2005/8/quickstyle/simple2" qsCatId="simple" csTypeId="urn:microsoft.com/office/officeart/2005/8/colors/accent6_2" csCatId="accent6"/>
      <dgm:spPr/>
      <dgm:t>
        <a:bodyPr/>
        <a:lstStyle/>
        <a:p>
          <a:endParaRPr lang="en-US"/>
        </a:p>
      </dgm:t>
    </dgm:pt>
    <dgm:pt modelId="{FE12BD34-C334-4A27-8395-7C11C182A9FC}">
      <dgm:prSet/>
      <dgm:spPr/>
      <dgm:t>
        <a:bodyPr/>
        <a:lstStyle/>
        <a:p>
          <a:r>
            <a:rPr lang="en-US" dirty="0"/>
            <a:t>There are more than 100 drought indices discussed in literatures and applied across the globe; around 30 amongst them are used as measures of monitoring spatial and temporal variability of water shortage (</a:t>
          </a:r>
          <a:r>
            <a:rPr lang="en-US" dirty="0" err="1">
              <a:hlinkClick xmlns:r="http://schemas.openxmlformats.org/officeDocument/2006/relationships" r:id="rId1"/>
            </a:rPr>
            <a:t>Halwatura</a:t>
          </a:r>
          <a:r>
            <a:rPr lang="en-US" dirty="0">
              <a:hlinkClick xmlns:r="http://schemas.openxmlformats.org/officeDocument/2006/relationships" r:id="rId1"/>
            </a:rPr>
            <a:t> et al., 2016</a:t>
          </a:r>
          <a:r>
            <a:rPr lang="en-US" dirty="0"/>
            <a:t>).</a:t>
          </a:r>
        </a:p>
      </dgm:t>
    </dgm:pt>
    <dgm:pt modelId="{6503D2D9-77AF-4178-A845-6057D8E4A711}" type="parTrans" cxnId="{E747E512-5279-4E78-B8A8-158357F4BE8A}">
      <dgm:prSet/>
      <dgm:spPr/>
      <dgm:t>
        <a:bodyPr/>
        <a:lstStyle/>
        <a:p>
          <a:endParaRPr lang="en-US"/>
        </a:p>
      </dgm:t>
    </dgm:pt>
    <dgm:pt modelId="{69C49A66-B687-44F6-B2AA-0B21F6B99828}" type="sibTrans" cxnId="{E747E512-5279-4E78-B8A8-158357F4BE8A}">
      <dgm:prSet/>
      <dgm:spPr/>
      <dgm:t>
        <a:bodyPr/>
        <a:lstStyle/>
        <a:p>
          <a:endParaRPr lang="en-US"/>
        </a:p>
      </dgm:t>
    </dgm:pt>
    <dgm:pt modelId="{36D3D93D-40BE-4188-AA47-142886DEF6C3}">
      <dgm:prSet/>
      <dgm:spPr/>
      <dgm:t>
        <a:bodyPr/>
        <a:lstStyle/>
        <a:p>
          <a:r>
            <a:rPr lang="en-US" dirty="0"/>
            <a:t>Different approaches for drought assessment include:</a:t>
          </a:r>
        </a:p>
      </dgm:t>
    </dgm:pt>
    <dgm:pt modelId="{C880DCCF-F9E8-4972-8616-C4A18CB636B4}" type="parTrans" cxnId="{C2E02FED-F3D8-4134-AB60-97A89A4B4AA8}">
      <dgm:prSet/>
      <dgm:spPr/>
      <dgm:t>
        <a:bodyPr/>
        <a:lstStyle/>
        <a:p>
          <a:endParaRPr lang="en-US"/>
        </a:p>
      </dgm:t>
    </dgm:pt>
    <dgm:pt modelId="{E4830C63-06E9-4801-A26F-276F63632E70}" type="sibTrans" cxnId="{C2E02FED-F3D8-4134-AB60-97A89A4B4AA8}">
      <dgm:prSet/>
      <dgm:spPr/>
      <dgm:t>
        <a:bodyPr/>
        <a:lstStyle/>
        <a:p>
          <a:endParaRPr lang="en-US"/>
        </a:p>
      </dgm:t>
    </dgm:pt>
    <dgm:pt modelId="{ACCD5628-D0FA-40A9-8B59-15A46E8F5D29}">
      <dgm:prSet/>
      <dgm:spPr/>
      <dgm:t>
        <a:bodyPr/>
        <a:lstStyle/>
        <a:p>
          <a:r>
            <a:rPr lang="en-US"/>
            <a:t>perception/observation-based approach,</a:t>
          </a:r>
        </a:p>
      </dgm:t>
    </dgm:pt>
    <dgm:pt modelId="{E1223494-A529-4A5A-B615-1A280768B707}" type="parTrans" cxnId="{F1A100AE-905E-472D-A310-960ADAA8555D}">
      <dgm:prSet/>
      <dgm:spPr/>
      <dgm:t>
        <a:bodyPr/>
        <a:lstStyle/>
        <a:p>
          <a:endParaRPr lang="en-US"/>
        </a:p>
      </dgm:t>
    </dgm:pt>
    <dgm:pt modelId="{4EBCB29D-5EFE-416E-914D-EAC4B66D40A0}" type="sibTrans" cxnId="{F1A100AE-905E-472D-A310-960ADAA8555D}">
      <dgm:prSet/>
      <dgm:spPr/>
      <dgm:t>
        <a:bodyPr/>
        <a:lstStyle/>
        <a:p>
          <a:endParaRPr lang="en-US"/>
        </a:p>
      </dgm:t>
    </dgm:pt>
    <dgm:pt modelId="{28EB38CB-1570-4776-85DA-6012EBE7F5B4}">
      <dgm:prSet/>
      <dgm:spPr/>
      <dgm:t>
        <a:bodyPr/>
        <a:lstStyle/>
        <a:p>
          <a:r>
            <a:rPr lang="en-US"/>
            <a:t>remote-sensing data-based approach, </a:t>
          </a:r>
        </a:p>
      </dgm:t>
    </dgm:pt>
    <dgm:pt modelId="{B2EF26AD-0107-4A4A-A347-171B9C499026}" type="parTrans" cxnId="{A5A2ABAB-4C1F-4230-B2E2-03194628EC26}">
      <dgm:prSet/>
      <dgm:spPr/>
      <dgm:t>
        <a:bodyPr/>
        <a:lstStyle/>
        <a:p>
          <a:endParaRPr lang="en-US"/>
        </a:p>
      </dgm:t>
    </dgm:pt>
    <dgm:pt modelId="{54D03805-2573-4EF9-885A-5DDC4FE298D9}" type="sibTrans" cxnId="{A5A2ABAB-4C1F-4230-B2E2-03194628EC26}">
      <dgm:prSet/>
      <dgm:spPr/>
      <dgm:t>
        <a:bodyPr/>
        <a:lstStyle/>
        <a:p>
          <a:endParaRPr lang="en-US"/>
        </a:p>
      </dgm:t>
    </dgm:pt>
    <dgm:pt modelId="{C8667465-B13B-4435-B688-68D39BB1B512}">
      <dgm:prSet/>
      <dgm:spPr/>
      <dgm:t>
        <a:bodyPr/>
        <a:lstStyle/>
        <a:p>
          <a:r>
            <a:rPr lang="en-US"/>
            <a:t>model-based approach, and </a:t>
          </a:r>
        </a:p>
      </dgm:t>
    </dgm:pt>
    <dgm:pt modelId="{FB49D879-B2F6-4799-B80C-A45343F3FBB9}" type="parTrans" cxnId="{7BEE9C33-B52E-4D4C-8191-7B79CA2C9748}">
      <dgm:prSet/>
      <dgm:spPr/>
      <dgm:t>
        <a:bodyPr/>
        <a:lstStyle/>
        <a:p>
          <a:endParaRPr lang="en-US"/>
        </a:p>
      </dgm:t>
    </dgm:pt>
    <dgm:pt modelId="{AB0AEE86-1754-44FD-899A-D9773B4DC2EE}" type="sibTrans" cxnId="{7BEE9C33-B52E-4D4C-8191-7B79CA2C9748}">
      <dgm:prSet/>
      <dgm:spPr/>
      <dgm:t>
        <a:bodyPr/>
        <a:lstStyle/>
        <a:p>
          <a:endParaRPr lang="en-US"/>
        </a:p>
      </dgm:t>
    </dgm:pt>
    <dgm:pt modelId="{A045FC35-8C33-4CB4-B8D5-A1080B6A697E}">
      <dgm:prSet/>
      <dgm:spPr/>
      <dgm:t>
        <a:bodyPr/>
        <a:lstStyle/>
        <a:p>
          <a:r>
            <a:rPr lang="en-US" b="1"/>
            <a:t>in-situ (hydro-meteorological/climatic) data-based approach.</a:t>
          </a:r>
          <a:endParaRPr lang="en-US"/>
        </a:p>
      </dgm:t>
    </dgm:pt>
    <dgm:pt modelId="{E293E4EB-4A7A-49C7-A852-A9D2D095819A}" type="parTrans" cxnId="{4D08EC78-5C92-48BA-82D5-12E7131EDFD6}">
      <dgm:prSet/>
      <dgm:spPr/>
      <dgm:t>
        <a:bodyPr/>
        <a:lstStyle/>
        <a:p>
          <a:endParaRPr lang="en-US"/>
        </a:p>
      </dgm:t>
    </dgm:pt>
    <dgm:pt modelId="{5E1D3364-893E-46D3-BBB4-5BB369B76A1F}" type="sibTrans" cxnId="{4D08EC78-5C92-48BA-82D5-12E7131EDFD6}">
      <dgm:prSet/>
      <dgm:spPr/>
      <dgm:t>
        <a:bodyPr/>
        <a:lstStyle/>
        <a:p>
          <a:endParaRPr lang="en-US"/>
        </a:p>
      </dgm:t>
    </dgm:pt>
    <dgm:pt modelId="{7A619FE7-656E-49A7-A928-FFC2DC7748CC}" type="pres">
      <dgm:prSet presAssocID="{3875CE6D-EAA8-4609-BB80-BDE43316C71B}" presName="Name0" presStyleCnt="0">
        <dgm:presLayoutVars>
          <dgm:dir/>
          <dgm:animLvl val="lvl"/>
          <dgm:resizeHandles val="exact"/>
        </dgm:presLayoutVars>
      </dgm:prSet>
      <dgm:spPr/>
    </dgm:pt>
    <dgm:pt modelId="{47A0DD35-8366-4EA3-AB3A-7C6E77E6288F}" type="pres">
      <dgm:prSet presAssocID="{36D3D93D-40BE-4188-AA47-142886DEF6C3}" presName="boxAndChildren" presStyleCnt="0"/>
      <dgm:spPr/>
    </dgm:pt>
    <dgm:pt modelId="{12B0FC3D-6626-4371-9D95-C95CC6EEE3B1}" type="pres">
      <dgm:prSet presAssocID="{36D3D93D-40BE-4188-AA47-142886DEF6C3}" presName="parentTextBox" presStyleLbl="node1" presStyleIdx="0" presStyleCnt="2"/>
      <dgm:spPr/>
    </dgm:pt>
    <dgm:pt modelId="{2774F816-D7FB-4C14-8C65-1740A9905917}" type="pres">
      <dgm:prSet presAssocID="{36D3D93D-40BE-4188-AA47-142886DEF6C3}" presName="entireBox" presStyleLbl="node1" presStyleIdx="0" presStyleCnt="2"/>
      <dgm:spPr/>
    </dgm:pt>
    <dgm:pt modelId="{D68E5A05-7D6C-4E6A-8A38-2C7161933695}" type="pres">
      <dgm:prSet presAssocID="{36D3D93D-40BE-4188-AA47-142886DEF6C3}" presName="descendantBox" presStyleCnt="0"/>
      <dgm:spPr/>
    </dgm:pt>
    <dgm:pt modelId="{B96B4E63-27CC-440A-8C14-5809BE2B3159}" type="pres">
      <dgm:prSet presAssocID="{ACCD5628-D0FA-40A9-8B59-15A46E8F5D29}" presName="childTextBox" presStyleLbl="fgAccFollowNode1" presStyleIdx="0" presStyleCnt="4">
        <dgm:presLayoutVars>
          <dgm:bulletEnabled val="1"/>
        </dgm:presLayoutVars>
      </dgm:prSet>
      <dgm:spPr/>
    </dgm:pt>
    <dgm:pt modelId="{B815DA94-A677-419B-A1F2-381202C4C689}" type="pres">
      <dgm:prSet presAssocID="{28EB38CB-1570-4776-85DA-6012EBE7F5B4}" presName="childTextBox" presStyleLbl="fgAccFollowNode1" presStyleIdx="1" presStyleCnt="4">
        <dgm:presLayoutVars>
          <dgm:bulletEnabled val="1"/>
        </dgm:presLayoutVars>
      </dgm:prSet>
      <dgm:spPr/>
    </dgm:pt>
    <dgm:pt modelId="{D5017226-6057-4536-B885-47AACFBDCE53}" type="pres">
      <dgm:prSet presAssocID="{C8667465-B13B-4435-B688-68D39BB1B512}" presName="childTextBox" presStyleLbl="fgAccFollowNode1" presStyleIdx="2" presStyleCnt="4">
        <dgm:presLayoutVars>
          <dgm:bulletEnabled val="1"/>
        </dgm:presLayoutVars>
      </dgm:prSet>
      <dgm:spPr/>
    </dgm:pt>
    <dgm:pt modelId="{B3E50E98-3430-4625-A54F-0FCEB226E808}" type="pres">
      <dgm:prSet presAssocID="{A045FC35-8C33-4CB4-B8D5-A1080B6A697E}" presName="childTextBox" presStyleLbl="fgAccFollowNode1" presStyleIdx="3" presStyleCnt="4">
        <dgm:presLayoutVars>
          <dgm:bulletEnabled val="1"/>
        </dgm:presLayoutVars>
      </dgm:prSet>
      <dgm:spPr/>
    </dgm:pt>
    <dgm:pt modelId="{897ADCC7-D6A5-48C9-8D0F-B27ABEAB14AF}" type="pres">
      <dgm:prSet presAssocID="{69C49A66-B687-44F6-B2AA-0B21F6B99828}" presName="sp" presStyleCnt="0"/>
      <dgm:spPr/>
    </dgm:pt>
    <dgm:pt modelId="{87D1C4BC-9357-46E5-BAB0-C71E4A5C92D7}" type="pres">
      <dgm:prSet presAssocID="{FE12BD34-C334-4A27-8395-7C11C182A9FC}" presName="arrowAndChildren" presStyleCnt="0"/>
      <dgm:spPr/>
    </dgm:pt>
    <dgm:pt modelId="{72047E29-660B-4E34-A1F3-89840661D8CC}" type="pres">
      <dgm:prSet presAssocID="{FE12BD34-C334-4A27-8395-7C11C182A9FC}" presName="parentTextArrow" presStyleLbl="node1" presStyleIdx="1" presStyleCnt="2" custLinFactNeighborX="4109" custLinFactNeighborY="-218"/>
      <dgm:spPr/>
    </dgm:pt>
  </dgm:ptLst>
  <dgm:cxnLst>
    <dgm:cxn modelId="{E747E512-5279-4E78-B8A8-158357F4BE8A}" srcId="{3875CE6D-EAA8-4609-BB80-BDE43316C71B}" destId="{FE12BD34-C334-4A27-8395-7C11C182A9FC}" srcOrd="0" destOrd="0" parTransId="{6503D2D9-77AF-4178-A845-6057D8E4A711}" sibTransId="{69C49A66-B687-44F6-B2AA-0B21F6B99828}"/>
    <dgm:cxn modelId="{86D87716-FD9A-4E70-A455-F4AA64B73924}" type="presOf" srcId="{ACCD5628-D0FA-40A9-8B59-15A46E8F5D29}" destId="{B96B4E63-27CC-440A-8C14-5809BE2B3159}" srcOrd="0" destOrd="0" presId="urn:microsoft.com/office/officeart/2005/8/layout/process4"/>
    <dgm:cxn modelId="{F2631B1B-C910-4D6C-8B75-6A6C906E4512}" type="presOf" srcId="{36D3D93D-40BE-4188-AA47-142886DEF6C3}" destId="{12B0FC3D-6626-4371-9D95-C95CC6EEE3B1}" srcOrd="0" destOrd="0" presId="urn:microsoft.com/office/officeart/2005/8/layout/process4"/>
    <dgm:cxn modelId="{7BEE9C33-B52E-4D4C-8191-7B79CA2C9748}" srcId="{36D3D93D-40BE-4188-AA47-142886DEF6C3}" destId="{C8667465-B13B-4435-B688-68D39BB1B512}" srcOrd="2" destOrd="0" parTransId="{FB49D879-B2F6-4799-B80C-A45343F3FBB9}" sibTransId="{AB0AEE86-1754-44FD-899A-D9773B4DC2EE}"/>
    <dgm:cxn modelId="{CD455734-2307-4E2D-82CA-6CA669939377}" type="presOf" srcId="{FE12BD34-C334-4A27-8395-7C11C182A9FC}" destId="{72047E29-660B-4E34-A1F3-89840661D8CC}" srcOrd="0" destOrd="0" presId="urn:microsoft.com/office/officeart/2005/8/layout/process4"/>
    <dgm:cxn modelId="{20F54238-0B0A-4F01-996B-D2B0ADC8F6BF}" type="presOf" srcId="{36D3D93D-40BE-4188-AA47-142886DEF6C3}" destId="{2774F816-D7FB-4C14-8C65-1740A9905917}" srcOrd="1" destOrd="0" presId="urn:microsoft.com/office/officeart/2005/8/layout/process4"/>
    <dgm:cxn modelId="{32915C69-9A10-4717-8604-D12D7ACCB960}" type="presOf" srcId="{C8667465-B13B-4435-B688-68D39BB1B512}" destId="{D5017226-6057-4536-B885-47AACFBDCE53}" srcOrd="0" destOrd="0" presId="urn:microsoft.com/office/officeart/2005/8/layout/process4"/>
    <dgm:cxn modelId="{A2CAEE55-65EF-4245-A818-ADAF2BEF64FD}" type="presOf" srcId="{A045FC35-8C33-4CB4-B8D5-A1080B6A697E}" destId="{B3E50E98-3430-4625-A54F-0FCEB226E808}" srcOrd="0" destOrd="0" presId="urn:microsoft.com/office/officeart/2005/8/layout/process4"/>
    <dgm:cxn modelId="{4D08EC78-5C92-48BA-82D5-12E7131EDFD6}" srcId="{36D3D93D-40BE-4188-AA47-142886DEF6C3}" destId="{A045FC35-8C33-4CB4-B8D5-A1080B6A697E}" srcOrd="3" destOrd="0" parTransId="{E293E4EB-4A7A-49C7-A852-A9D2D095819A}" sibTransId="{5E1D3364-893E-46D3-BBB4-5BB369B76A1F}"/>
    <dgm:cxn modelId="{A22E3B86-7E6E-40B9-A413-BAFCCFA5C29F}" type="presOf" srcId="{3875CE6D-EAA8-4609-BB80-BDE43316C71B}" destId="{7A619FE7-656E-49A7-A928-FFC2DC7748CC}" srcOrd="0" destOrd="0" presId="urn:microsoft.com/office/officeart/2005/8/layout/process4"/>
    <dgm:cxn modelId="{82D46CA9-4270-43B6-AAE9-7D4404260A82}" type="presOf" srcId="{28EB38CB-1570-4776-85DA-6012EBE7F5B4}" destId="{B815DA94-A677-419B-A1F2-381202C4C689}" srcOrd="0" destOrd="0" presId="urn:microsoft.com/office/officeart/2005/8/layout/process4"/>
    <dgm:cxn modelId="{A5A2ABAB-4C1F-4230-B2E2-03194628EC26}" srcId="{36D3D93D-40BE-4188-AA47-142886DEF6C3}" destId="{28EB38CB-1570-4776-85DA-6012EBE7F5B4}" srcOrd="1" destOrd="0" parTransId="{B2EF26AD-0107-4A4A-A347-171B9C499026}" sibTransId="{54D03805-2573-4EF9-885A-5DDC4FE298D9}"/>
    <dgm:cxn modelId="{F1A100AE-905E-472D-A310-960ADAA8555D}" srcId="{36D3D93D-40BE-4188-AA47-142886DEF6C3}" destId="{ACCD5628-D0FA-40A9-8B59-15A46E8F5D29}" srcOrd="0" destOrd="0" parTransId="{E1223494-A529-4A5A-B615-1A280768B707}" sibTransId="{4EBCB29D-5EFE-416E-914D-EAC4B66D40A0}"/>
    <dgm:cxn modelId="{C2E02FED-F3D8-4134-AB60-97A89A4B4AA8}" srcId="{3875CE6D-EAA8-4609-BB80-BDE43316C71B}" destId="{36D3D93D-40BE-4188-AA47-142886DEF6C3}" srcOrd="1" destOrd="0" parTransId="{C880DCCF-F9E8-4972-8616-C4A18CB636B4}" sibTransId="{E4830C63-06E9-4801-A26F-276F63632E70}"/>
    <dgm:cxn modelId="{28CE6C71-42F5-47DA-AF76-B7C1A96DA950}" type="presParOf" srcId="{7A619FE7-656E-49A7-A928-FFC2DC7748CC}" destId="{47A0DD35-8366-4EA3-AB3A-7C6E77E6288F}" srcOrd="0" destOrd="0" presId="urn:microsoft.com/office/officeart/2005/8/layout/process4"/>
    <dgm:cxn modelId="{67719015-77BD-4641-9B11-4300EC234C27}" type="presParOf" srcId="{47A0DD35-8366-4EA3-AB3A-7C6E77E6288F}" destId="{12B0FC3D-6626-4371-9D95-C95CC6EEE3B1}" srcOrd="0" destOrd="0" presId="urn:microsoft.com/office/officeart/2005/8/layout/process4"/>
    <dgm:cxn modelId="{B4ACFAC6-9640-4A7C-9278-5B4C209397DE}" type="presParOf" srcId="{47A0DD35-8366-4EA3-AB3A-7C6E77E6288F}" destId="{2774F816-D7FB-4C14-8C65-1740A9905917}" srcOrd="1" destOrd="0" presId="urn:microsoft.com/office/officeart/2005/8/layout/process4"/>
    <dgm:cxn modelId="{3906DEE7-D219-4A52-BAD3-1A542558520A}" type="presParOf" srcId="{47A0DD35-8366-4EA3-AB3A-7C6E77E6288F}" destId="{D68E5A05-7D6C-4E6A-8A38-2C7161933695}" srcOrd="2" destOrd="0" presId="urn:microsoft.com/office/officeart/2005/8/layout/process4"/>
    <dgm:cxn modelId="{0922FA8D-D61F-442D-90E5-E8EEB7B74EAA}" type="presParOf" srcId="{D68E5A05-7D6C-4E6A-8A38-2C7161933695}" destId="{B96B4E63-27CC-440A-8C14-5809BE2B3159}" srcOrd="0" destOrd="0" presId="urn:microsoft.com/office/officeart/2005/8/layout/process4"/>
    <dgm:cxn modelId="{1D617FE8-44E8-4D80-9247-80005785DDE1}" type="presParOf" srcId="{D68E5A05-7D6C-4E6A-8A38-2C7161933695}" destId="{B815DA94-A677-419B-A1F2-381202C4C689}" srcOrd="1" destOrd="0" presId="urn:microsoft.com/office/officeart/2005/8/layout/process4"/>
    <dgm:cxn modelId="{A18C2C9F-EFC4-48F6-B44C-47E6987C22A3}" type="presParOf" srcId="{D68E5A05-7D6C-4E6A-8A38-2C7161933695}" destId="{D5017226-6057-4536-B885-47AACFBDCE53}" srcOrd="2" destOrd="0" presId="urn:microsoft.com/office/officeart/2005/8/layout/process4"/>
    <dgm:cxn modelId="{F9694A76-CEE0-4756-BE1D-073955D9E335}" type="presParOf" srcId="{D68E5A05-7D6C-4E6A-8A38-2C7161933695}" destId="{B3E50E98-3430-4625-A54F-0FCEB226E808}" srcOrd="3" destOrd="0" presId="urn:microsoft.com/office/officeart/2005/8/layout/process4"/>
    <dgm:cxn modelId="{3ADB4B01-92C4-4A5F-92A9-970631FBCEF3}" type="presParOf" srcId="{7A619FE7-656E-49A7-A928-FFC2DC7748CC}" destId="{897ADCC7-D6A5-48C9-8D0F-B27ABEAB14AF}" srcOrd="1" destOrd="0" presId="urn:microsoft.com/office/officeart/2005/8/layout/process4"/>
    <dgm:cxn modelId="{48B8A129-4F75-4CF7-9F46-7CA89485054A}" type="presParOf" srcId="{7A619FE7-656E-49A7-A928-FFC2DC7748CC}" destId="{87D1C4BC-9357-46E5-BAB0-C71E4A5C92D7}" srcOrd="2" destOrd="0" presId="urn:microsoft.com/office/officeart/2005/8/layout/process4"/>
    <dgm:cxn modelId="{76D740BB-E5CC-4049-A0D4-A6F1F251A44D}" type="presParOf" srcId="{87D1C4BC-9357-46E5-BAB0-C71E4A5C92D7}" destId="{72047E29-660B-4E34-A1F3-89840661D8CC}"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837A759-8BEB-45A8-A0B5-ACF513C5C392}"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F3A8AE56-124C-468A-8B99-09441B4DA5AD}">
      <dgm:prSet/>
      <dgm:spPr/>
      <dgm:t>
        <a:bodyPr/>
        <a:lstStyle/>
        <a:p>
          <a:r>
            <a:rPr lang="en-US"/>
            <a:t>Observed daily time-series of precipitation, temperature and discharge from Department of Hydrology and Meteorology (DHM) for 1981–2014 were used. </a:t>
          </a:r>
        </a:p>
      </dgm:t>
    </dgm:pt>
    <dgm:pt modelId="{F3922DED-97B8-481F-A534-4E1CC9BA790A}" type="parTrans" cxnId="{9BEA6F19-4D9A-471C-BF02-C4D18728A8A5}">
      <dgm:prSet/>
      <dgm:spPr/>
      <dgm:t>
        <a:bodyPr/>
        <a:lstStyle/>
        <a:p>
          <a:endParaRPr lang="en-US"/>
        </a:p>
      </dgm:t>
    </dgm:pt>
    <dgm:pt modelId="{4BFC5777-3670-457B-88E5-2EF7D1D90E71}" type="sibTrans" cxnId="{9BEA6F19-4D9A-471C-BF02-C4D18728A8A5}">
      <dgm:prSet/>
      <dgm:spPr/>
      <dgm:t>
        <a:bodyPr/>
        <a:lstStyle/>
        <a:p>
          <a:endParaRPr lang="en-US"/>
        </a:p>
      </dgm:t>
    </dgm:pt>
    <dgm:pt modelId="{44CDB242-B551-49C8-9DE3-A87065866A70}">
      <dgm:prSet/>
      <dgm:spPr/>
      <dgm:t>
        <a:bodyPr/>
        <a:lstStyle/>
        <a:p>
          <a:r>
            <a:rPr lang="en-US"/>
            <a:t>Temperature data from 10 stations distributed across KRB were selected. </a:t>
          </a:r>
        </a:p>
      </dgm:t>
    </dgm:pt>
    <dgm:pt modelId="{4CB72D64-2B7A-4968-8701-5E5A98C2DFBF}" type="parTrans" cxnId="{08DEE47C-DC24-44D1-B083-D41C4C5356CF}">
      <dgm:prSet/>
      <dgm:spPr/>
      <dgm:t>
        <a:bodyPr/>
        <a:lstStyle/>
        <a:p>
          <a:endParaRPr lang="en-US"/>
        </a:p>
      </dgm:t>
    </dgm:pt>
    <dgm:pt modelId="{705A6C22-98AC-4EE0-AD7A-05647B33F5C8}" type="sibTrans" cxnId="{08DEE47C-DC24-44D1-B083-D41C4C5356CF}">
      <dgm:prSet/>
      <dgm:spPr/>
      <dgm:t>
        <a:bodyPr/>
        <a:lstStyle/>
        <a:p>
          <a:endParaRPr lang="en-US"/>
        </a:p>
      </dgm:t>
    </dgm:pt>
    <dgm:pt modelId="{3895B41F-73E7-4C07-9F7E-EA0ABF6CE195}">
      <dgm:prSet/>
      <dgm:spPr/>
      <dgm:t>
        <a:bodyPr/>
        <a:lstStyle/>
        <a:p>
          <a:r>
            <a:rPr lang="en-US"/>
            <a:t>Likewise, precipitation at 27 stations with longer-term data availability and less than 10% missing data were selected.</a:t>
          </a:r>
        </a:p>
      </dgm:t>
    </dgm:pt>
    <dgm:pt modelId="{4EADF3DA-B750-451E-8D6C-EFF6B0FD8271}" type="parTrans" cxnId="{9C7DA5FD-6D98-4D17-BF25-250CAC7471E4}">
      <dgm:prSet/>
      <dgm:spPr/>
      <dgm:t>
        <a:bodyPr/>
        <a:lstStyle/>
        <a:p>
          <a:endParaRPr lang="en-US"/>
        </a:p>
      </dgm:t>
    </dgm:pt>
    <dgm:pt modelId="{BADEA815-EDED-4243-946B-1F75DAAFBCDF}" type="sibTrans" cxnId="{9C7DA5FD-6D98-4D17-BF25-250CAC7471E4}">
      <dgm:prSet/>
      <dgm:spPr/>
      <dgm:t>
        <a:bodyPr/>
        <a:lstStyle/>
        <a:p>
          <a:endParaRPr lang="en-US"/>
        </a:p>
      </dgm:t>
    </dgm:pt>
    <dgm:pt modelId="{4FB5EA6F-77C7-4D26-B541-D6018F68EB03}" type="pres">
      <dgm:prSet presAssocID="{5837A759-8BEB-45A8-A0B5-ACF513C5C392}" presName="vert0" presStyleCnt="0">
        <dgm:presLayoutVars>
          <dgm:dir/>
          <dgm:animOne val="branch"/>
          <dgm:animLvl val="lvl"/>
        </dgm:presLayoutVars>
      </dgm:prSet>
      <dgm:spPr/>
    </dgm:pt>
    <dgm:pt modelId="{49AF0F51-2590-460E-B9B9-8CF080E7672E}" type="pres">
      <dgm:prSet presAssocID="{F3A8AE56-124C-468A-8B99-09441B4DA5AD}" presName="thickLine" presStyleLbl="alignNode1" presStyleIdx="0" presStyleCnt="3"/>
      <dgm:spPr/>
    </dgm:pt>
    <dgm:pt modelId="{2D144687-E34D-4E92-9437-C6EF03102F26}" type="pres">
      <dgm:prSet presAssocID="{F3A8AE56-124C-468A-8B99-09441B4DA5AD}" presName="horz1" presStyleCnt="0"/>
      <dgm:spPr/>
    </dgm:pt>
    <dgm:pt modelId="{27307FE9-F078-4182-9937-BBEB78DC7C66}" type="pres">
      <dgm:prSet presAssocID="{F3A8AE56-124C-468A-8B99-09441B4DA5AD}" presName="tx1" presStyleLbl="revTx" presStyleIdx="0" presStyleCnt="3"/>
      <dgm:spPr/>
    </dgm:pt>
    <dgm:pt modelId="{6874EC8C-F592-4118-AB25-BB2F29B5B6FB}" type="pres">
      <dgm:prSet presAssocID="{F3A8AE56-124C-468A-8B99-09441B4DA5AD}" presName="vert1" presStyleCnt="0"/>
      <dgm:spPr/>
    </dgm:pt>
    <dgm:pt modelId="{67513F8D-ED5A-4E87-BC6C-48CF76DEDECF}" type="pres">
      <dgm:prSet presAssocID="{44CDB242-B551-49C8-9DE3-A87065866A70}" presName="thickLine" presStyleLbl="alignNode1" presStyleIdx="1" presStyleCnt="3"/>
      <dgm:spPr/>
    </dgm:pt>
    <dgm:pt modelId="{9CB46C65-0C91-4AF7-8C8D-E70F500A0284}" type="pres">
      <dgm:prSet presAssocID="{44CDB242-B551-49C8-9DE3-A87065866A70}" presName="horz1" presStyleCnt="0"/>
      <dgm:spPr/>
    </dgm:pt>
    <dgm:pt modelId="{60963E4A-7CBC-43FE-B05F-80A6D80DE2A2}" type="pres">
      <dgm:prSet presAssocID="{44CDB242-B551-49C8-9DE3-A87065866A70}" presName="tx1" presStyleLbl="revTx" presStyleIdx="1" presStyleCnt="3"/>
      <dgm:spPr/>
    </dgm:pt>
    <dgm:pt modelId="{ED992D6E-A36B-40C5-901C-DAAC36562FA5}" type="pres">
      <dgm:prSet presAssocID="{44CDB242-B551-49C8-9DE3-A87065866A70}" presName="vert1" presStyleCnt="0"/>
      <dgm:spPr/>
    </dgm:pt>
    <dgm:pt modelId="{B57AE138-ECC3-4EE0-B940-692F583AAD9C}" type="pres">
      <dgm:prSet presAssocID="{3895B41F-73E7-4C07-9F7E-EA0ABF6CE195}" presName="thickLine" presStyleLbl="alignNode1" presStyleIdx="2" presStyleCnt="3"/>
      <dgm:spPr/>
    </dgm:pt>
    <dgm:pt modelId="{74687575-3A5E-429B-B769-084E67D1034E}" type="pres">
      <dgm:prSet presAssocID="{3895B41F-73E7-4C07-9F7E-EA0ABF6CE195}" presName="horz1" presStyleCnt="0"/>
      <dgm:spPr/>
    </dgm:pt>
    <dgm:pt modelId="{84E646FE-4D33-435C-AE78-EF0374CCC2F8}" type="pres">
      <dgm:prSet presAssocID="{3895B41F-73E7-4C07-9F7E-EA0ABF6CE195}" presName="tx1" presStyleLbl="revTx" presStyleIdx="2" presStyleCnt="3"/>
      <dgm:spPr/>
    </dgm:pt>
    <dgm:pt modelId="{E6435C21-7E07-49E6-BE87-508069788A14}" type="pres">
      <dgm:prSet presAssocID="{3895B41F-73E7-4C07-9F7E-EA0ABF6CE195}" presName="vert1" presStyleCnt="0"/>
      <dgm:spPr/>
    </dgm:pt>
  </dgm:ptLst>
  <dgm:cxnLst>
    <dgm:cxn modelId="{9BEA6F19-4D9A-471C-BF02-C4D18728A8A5}" srcId="{5837A759-8BEB-45A8-A0B5-ACF513C5C392}" destId="{F3A8AE56-124C-468A-8B99-09441B4DA5AD}" srcOrd="0" destOrd="0" parTransId="{F3922DED-97B8-481F-A534-4E1CC9BA790A}" sibTransId="{4BFC5777-3670-457B-88E5-2EF7D1D90E71}"/>
    <dgm:cxn modelId="{4C9F1639-0D57-422B-90F9-F740D511F2AB}" type="presOf" srcId="{F3A8AE56-124C-468A-8B99-09441B4DA5AD}" destId="{27307FE9-F078-4182-9937-BBEB78DC7C66}" srcOrd="0" destOrd="0" presId="urn:microsoft.com/office/officeart/2008/layout/LinedList"/>
    <dgm:cxn modelId="{C5A0E571-2FAB-4622-A8DD-D5253DA2E4E5}" type="presOf" srcId="{3895B41F-73E7-4C07-9F7E-EA0ABF6CE195}" destId="{84E646FE-4D33-435C-AE78-EF0374CCC2F8}" srcOrd="0" destOrd="0" presId="urn:microsoft.com/office/officeart/2008/layout/LinedList"/>
    <dgm:cxn modelId="{08DEE47C-DC24-44D1-B083-D41C4C5356CF}" srcId="{5837A759-8BEB-45A8-A0B5-ACF513C5C392}" destId="{44CDB242-B551-49C8-9DE3-A87065866A70}" srcOrd="1" destOrd="0" parTransId="{4CB72D64-2B7A-4968-8701-5E5A98C2DFBF}" sibTransId="{705A6C22-98AC-4EE0-AD7A-05647B33F5C8}"/>
    <dgm:cxn modelId="{9959DBA2-1706-432B-9D86-5E6B7C0621DC}" type="presOf" srcId="{44CDB242-B551-49C8-9DE3-A87065866A70}" destId="{60963E4A-7CBC-43FE-B05F-80A6D80DE2A2}" srcOrd="0" destOrd="0" presId="urn:microsoft.com/office/officeart/2008/layout/LinedList"/>
    <dgm:cxn modelId="{F265DCE9-AAA5-42FB-A8FD-B4E1C7BDB2E9}" type="presOf" srcId="{5837A759-8BEB-45A8-A0B5-ACF513C5C392}" destId="{4FB5EA6F-77C7-4D26-B541-D6018F68EB03}" srcOrd="0" destOrd="0" presId="urn:microsoft.com/office/officeart/2008/layout/LinedList"/>
    <dgm:cxn modelId="{9C7DA5FD-6D98-4D17-BF25-250CAC7471E4}" srcId="{5837A759-8BEB-45A8-A0B5-ACF513C5C392}" destId="{3895B41F-73E7-4C07-9F7E-EA0ABF6CE195}" srcOrd="2" destOrd="0" parTransId="{4EADF3DA-B750-451E-8D6C-EFF6B0FD8271}" sibTransId="{BADEA815-EDED-4243-946B-1F75DAAFBCDF}"/>
    <dgm:cxn modelId="{F26EBAF9-9228-46D9-9BB0-8B94F01C659E}" type="presParOf" srcId="{4FB5EA6F-77C7-4D26-B541-D6018F68EB03}" destId="{49AF0F51-2590-460E-B9B9-8CF080E7672E}" srcOrd="0" destOrd="0" presId="urn:microsoft.com/office/officeart/2008/layout/LinedList"/>
    <dgm:cxn modelId="{677CA6F0-8D9D-4C32-9DCA-7A14B9917A80}" type="presParOf" srcId="{4FB5EA6F-77C7-4D26-B541-D6018F68EB03}" destId="{2D144687-E34D-4E92-9437-C6EF03102F26}" srcOrd="1" destOrd="0" presId="urn:microsoft.com/office/officeart/2008/layout/LinedList"/>
    <dgm:cxn modelId="{6B55B08E-7B84-409C-86A0-35E475C05C21}" type="presParOf" srcId="{2D144687-E34D-4E92-9437-C6EF03102F26}" destId="{27307FE9-F078-4182-9937-BBEB78DC7C66}" srcOrd="0" destOrd="0" presId="urn:microsoft.com/office/officeart/2008/layout/LinedList"/>
    <dgm:cxn modelId="{7453B7F5-DC42-47E7-A535-B53765D665BA}" type="presParOf" srcId="{2D144687-E34D-4E92-9437-C6EF03102F26}" destId="{6874EC8C-F592-4118-AB25-BB2F29B5B6FB}" srcOrd="1" destOrd="0" presId="urn:microsoft.com/office/officeart/2008/layout/LinedList"/>
    <dgm:cxn modelId="{DF6141ED-5477-4B27-99CC-6A76621C3086}" type="presParOf" srcId="{4FB5EA6F-77C7-4D26-B541-D6018F68EB03}" destId="{67513F8D-ED5A-4E87-BC6C-48CF76DEDECF}" srcOrd="2" destOrd="0" presId="urn:microsoft.com/office/officeart/2008/layout/LinedList"/>
    <dgm:cxn modelId="{45B24ABF-50B9-4308-AFED-17AEAD398D75}" type="presParOf" srcId="{4FB5EA6F-77C7-4D26-B541-D6018F68EB03}" destId="{9CB46C65-0C91-4AF7-8C8D-E70F500A0284}" srcOrd="3" destOrd="0" presId="urn:microsoft.com/office/officeart/2008/layout/LinedList"/>
    <dgm:cxn modelId="{DD1FC5A6-3BF1-4544-AD79-E94AD20362EE}" type="presParOf" srcId="{9CB46C65-0C91-4AF7-8C8D-E70F500A0284}" destId="{60963E4A-7CBC-43FE-B05F-80A6D80DE2A2}" srcOrd="0" destOrd="0" presId="urn:microsoft.com/office/officeart/2008/layout/LinedList"/>
    <dgm:cxn modelId="{599B042D-65AE-4E25-983E-27F77C61326C}" type="presParOf" srcId="{9CB46C65-0C91-4AF7-8C8D-E70F500A0284}" destId="{ED992D6E-A36B-40C5-901C-DAAC36562FA5}" srcOrd="1" destOrd="0" presId="urn:microsoft.com/office/officeart/2008/layout/LinedList"/>
    <dgm:cxn modelId="{00981DE2-119E-4632-95AB-F8E396C6AFA1}" type="presParOf" srcId="{4FB5EA6F-77C7-4D26-B541-D6018F68EB03}" destId="{B57AE138-ECC3-4EE0-B940-692F583AAD9C}" srcOrd="4" destOrd="0" presId="urn:microsoft.com/office/officeart/2008/layout/LinedList"/>
    <dgm:cxn modelId="{60AF0542-82DF-4BDF-B3A4-C40D0752ACC4}" type="presParOf" srcId="{4FB5EA6F-77C7-4D26-B541-D6018F68EB03}" destId="{74687575-3A5E-429B-B769-084E67D1034E}" srcOrd="5" destOrd="0" presId="urn:microsoft.com/office/officeart/2008/layout/LinedList"/>
    <dgm:cxn modelId="{D10DE055-91D3-4CA7-8579-51B1F3FD1A1D}" type="presParOf" srcId="{74687575-3A5E-429B-B769-084E67D1034E}" destId="{84E646FE-4D33-435C-AE78-EF0374CCC2F8}" srcOrd="0" destOrd="0" presId="urn:microsoft.com/office/officeart/2008/layout/LinedList"/>
    <dgm:cxn modelId="{EC46E338-1C72-4E95-A683-38BD8C0C5321}" type="presParOf" srcId="{74687575-3A5E-429B-B769-084E67D1034E}" destId="{E6435C21-7E07-49E6-BE87-508069788A1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74F816-D7FB-4C14-8C65-1740A9905917}">
      <dsp:nvSpPr>
        <dsp:cNvPr id="0" name=""/>
        <dsp:cNvSpPr/>
      </dsp:nvSpPr>
      <dsp:spPr>
        <a:xfrm>
          <a:off x="0" y="3106219"/>
          <a:ext cx="10076847" cy="2038016"/>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kern="1200" dirty="0"/>
            <a:t>Different approaches for drought assessment include:</a:t>
          </a:r>
        </a:p>
      </dsp:txBody>
      <dsp:txXfrm>
        <a:off x="0" y="3106219"/>
        <a:ext cx="10076847" cy="1100528"/>
      </dsp:txXfrm>
    </dsp:sp>
    <dsp:sp modelId="{B96B4E63-27CC-440A-8C14-5809BE2B3159}">
      <dsp:nvSpPr>
        <dsp:cNvPr id="0" name=""/>
        <dsp:cNvSpPr/>
      </dsp:nvSpPr>
      <dsp:spPr>
        <a:xfrm>
          <a:off x="0" y="4165988"/>
          <a:ext cx="2519211" cy="937487"/>
        </a:xfrm>
        <a:prstGeom prst="rect">
          <a:avLst/>
        </a:prstGeom>
        <a:solidFill>
          <a:schemeClr val="accent6">
            <a:alpha val="90000"/>
            <a:tint val="40000"/>
            <a:hueOff val="0"/>
            <a:satOff val="0"/>
            <a:lumOff val="0"/>
            <a:alphaOff val="0"/>
          </a:schemeClr>
        </a:solidFill>
        <a:ln w="12700" cap="flat" cmpd="sng" algn="ctr">
          <a:solidFill>
            <a:schemeClr val="accent6">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a:t>perception/observation-based approach,</a:t>
          </a:r>
        </a:p>
      </dsp:txBody>
      <dsp:txXfrm>
        <a:off x="0" y="4165988"/>
        <a:ext cx="2519211" cy="937487"/>
      </dsp:txXfrm>
    </dsp:sp>
    <dsp:sp modelId="{B815DA94-A677-419B-A1F2-381202C4C689}">
      <dsp:nvSpPr>
        <dsp:cNvPr id="0" name=""/>
        <dsp:cNvSpPr/>
      </dsp:nvSpPr>
      <dsp:spPr>
        <a:xfrm>
          <a:off x="2519212" y="4165988"/>
          <a:ext cx="2519211" cy="937487"/>
        </a:xfrm>
        <a:prstGeom prst="rect">
          <a:avLst/>
        </a:prstGeom>
        <a:solidFill>
          <a:schemeClr val="accent6">
            <a:alpha val="90000"/>
            <a:tint val="40000"/>
            <a:hueOff val="0"/>
            <a:satOff val="0"/>
            <a:lumOff val="0"/>
            <a:alphaOff val="0"/>
          </a:schemeClr>
        </a:solidFill>
        <a:ln w="12700" cap="flat" cmpd="sng" algn="ctr">
          <a:solidFill>
            <a:schemeClr val="accent6">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a:t>remote-sensing data-based approach, </a:t>
          </a:r>
        </a:p>
      </dsp:txBody>
      <dsp:txXfrm>
        <a:off x="2519212" y="4165988"/>
        <a:ext cx="2519211" cy="937487"/>
      </dsp:txXfrm>
    </dsp:sp>
    <dsp:sp modelId="{D5017226-6057-4536-B885-47AACFBDCE53}">
      <dsp:nvSpPr>
        <dsp:cNvPr id="0" name=""/>
        <dsp:cNvSpPr/>
      </dsp:nvSpPr>
      <dsp:spPr>
        <a:xfrm>
          <a:off x="5038423" y="4165988"/>
          <a:ext cx="2519211" cy="937487"/>
        </a:xfrm>
        <a:prstGeom prst="rect">
          <a:avLst/>
        </a:prstGeom>
        <a:solidFill>
          <a:schemeClr val="accent6">
            <a:alpha val="90000"/>
            <a:tint val="40000"/>
            <a:hueOff val="0"/>
            <a:satOff val="0"/>
            <a:lumOff val="0"/>
            <a:alphaOff val="0"/>
          </a:schemeClr>
        </a:solidFill>
        <a:ln w="12700" cap="flat" cmpd="sng" algn="ctr">
          <a:solidFill>
            <a:schemeClr val="accent6">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a:t>model-based approach, and </a:t>
          </a:r>
        </a:p>
      </dsp:txBody>
      <dsp:txXfrm>
        <a:off x="5038423" y="4165988"/>
        <a:ext cx="2519211" cy="937487"/>
      </dsp:txXfrm>
    </dsp:sp>
    <dsp:sp modelId="{B3E50E98-3430-4625-A54F-0FCEB226E808}">
      <dsp:nvSpPr>
        <dsp:cNvPr id="0" name=""/>
        <dsp:cNvSpPr/>
      </dsp:nvSpPr>
      <dsp:spPr>
        <a:xfrm>
          <a:off x="7557635" y="4165988"/>
          <a:ext cx="2519211" cy="937487"/>
        </a:xfrm>
        <a:prstGeom prst="rect">
          <a:avLst/>
        </a:prstGeom>
        <a:solidFill>
          <a:schemeClr val="accent6">
            <a:alpha val="90000"/>
            <a:tint val="40000"/>
            <a:hueOff val="0"/>
            <a:satOff val="0"/>
            <a:lumOff val="0"/>
            <a:alphaOff val="0"/>
          </a:schemeClr>
        </a:solidFill>
        <a:ln w="12700" cap="flat" cmpd="sng" algn="ctr">
          <a:solidFill>
            <a:schemeClr val="accent6">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b="1" kern="1200"/>
            <a:t>in-situ (hydro-meteorological/climatic) data-based approach.</a:t>
          </a:r>
          <a:endParaRPr lang="en-US" sz="1700" kern="1200"/>
        </a:p>
      </dsp:txBody>
      <dsp:txXfrm>
        <a:off x="7557635" y="4165988"/>
        <a:ext cx="2519211" cy="937487"/>
      </dsp:txXfrm>
    </dsp:sp>
    <dsp:sp modelId="{72047E29-660B-4E34-A1F3-89840661D8CC}">
      <dsp:nvSpPr>
        <dsp:cNvPr id="0" name=""/>
        <dsp:cNvSpPr/>
      </dsp:nvSpPr>
      <dsp:spPr>
        <a:xfrm rot="10800000">
          <a:off x="0" y="0"/>
          <a:ext cx="10076847" cy="3134469"/>
        </a:xfrm>
        <a:prstGeom prst="upArrowCallou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kern="1200" dirty="0"/>
            <a:t>There are more than 100 drought indices discussed in literatures and applied across the globe; around 30 amongst them are used as measures of monitoring spatial and temporal variability of water shortage (</a:t>
          </a:r>
          <a:r>
            <a:rPr lang="en-US" sz="2900" kern="1200" dirty="0" err="1">
              <a:hlinkClick xmlns:r="http://schemas.openxmlformats.org/officeDocument/2006/relationships" r:id="rId1"/>
            </a:rPr>
            <a:t>Halwatura</a:t>
          </a:r>
          <a:r>
            <a:rPr lang="en-US" sz="2900" kern="1200" dirty="0">
              <a:hlinkClick xmlns:r="http://schemas.openxmlformats.org/officeDocument/2006/relationships" r:id="rId1"/>
            </a:rPr>
            <a:t> et al., 2016</a:t>
          </a:r>
          <a:r>
            <a:rPr lang="en-US" sz="2900" kern="1200" dirty="0"/>
            <a:t>).</a:t>
          </a:r>
        </a:p>
      </dsp:txBody>
      <dsp:txXfrm rot="10800000">
        <a:off x="0" y="0"/>
        <a:ext cx="10076847" cy="203668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AF0F51-2590-460E-B9B9-8CF080E7672E}">
      <dsp:nvSpPr>
        <dsp:cNvPr id="0" name=""/>
        <dsp:cNvSpPr/>
      </dsp:nvSpPr>
      <dsp:spPr>
        <a:xfrm>
          <a:off x="0" y="1157"/>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7307FE9-F078-4182-9937-BBEB78DC7C66}">
      <dsp:nvSpPr>
        <dsp:cNvPr id="0" name=""/>
        <dsp:cNvSpPr/>
      </dsp:nvSpPr>
      <dsp:spPr>
        <a:xfrm>
          <a:off x="0" y="1157"/>
          <a:ext cx="10515600" cy="789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Observed daily time-series of precipitation, temperature and discharge from Department of Hydrology and Meteorology (DHM) for 1981–2014 were used. </a:t>
          </a:r>
        </a:p>
      </dsp:txBody>
      <dsp:txXfrm>
        <a:off x="0" y="1157"/>
        <a:ext cx="10515600" cy="789500"/>
      </dsp:txXfrm>
    </dsp:sp>
    <dsp:sp modelId="{67513F8D-ED5A-4E87-BC6C-48CF76DEDECF}">
      <dsp:nvSpPr>
        <dsp:cNvPr id="0" name=""/>
        <dsp:cNvSpPr/>
      </dsp:nvSpPr>
      <dsp:spPr>
        <a:xfrm>
          <a:off x="0" y="790658"/>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963E4A-7CBC-43FE-B05F-80A6D80DE2A2}">
      <dsp:nvSpPr>
        <dsp:cNvPr id="0" name=""/>
        <dsp:cNvSpPr/>
      </dsp:nvSpPr>
      <dsp:spPr>
        <a:xfrm>
          <a:off x="0" y="790658"/>
          <a:ext cx="10515600" cy="789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Temperature data from 10 stations distributed across KRB were selected. </a:t>
          </a:r>
        </a:p>
      </dsp:txBody>
      <dsp:txXfrm>
        <a:off x="0" y="790658"/>
        <a:ext cx="10515600" cy="789500"/>
      </dsp:txXfrm>
    </dsp:sp>
    <dsp:sp modelId="{B57AE138-ECC3-4EE0-B940-692F583AAD9C}">
      <dsp:nvSpPr>
        <dsp:cNvPr id="0" name=""/>
        <dsp:cNvSpPr/>
      </dsp:nvSpPr>
      <dsp:spPr>
        <a:xfrm>
          <a:off x="0" y="1580159"/>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E646FE-4D33-435C-AE78-EF0374CCC2F8}">
      <dsp:nvSpPr>
        <dsp:cNvPr id="0" name=""/>
        <dsp:cNvSpPr/>
      </dsp:nvSpPr>
      <dsp:spPr>
        <a:xfrm>
          <a:off x="0" y="1580159"/>
          <a:ext cx="10515600" cy="789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Likewise, precipitation at 27 stations with longer-term data availability and less than 10% missing data were selected.</a:t>
          </a:r>
        </a:p>
      </dsp:txBody>
      <dsp:txXfrm>
        <a:off x="0" y="1580159"/>
        <a:ext cx="10515600" cy="789500"/>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38F969-8EFF-4A07-A12C-4C9E8C85B1AC}"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EB7910-9D4C-477A-8ECF-86794F2D0224}" type="slidenum">
              <a:rPr lang="en-US" smtClean="0"/>
              <a:t>‹#›</a:t>
            </a:fld>
            <a:endParaRPr lang="en-US"/>
          </a:p>
        </p:txBody>
      </p:sp>
    </p:spTree>
    <p:extLst>
      <p:ext uri="{BB962C8B-B14F-4D97-AF65-F5344CB8AC3E}">
        <p14:creationId xmlns:p14="http://schemas.microsoft.com/office/powerpoint/2010/main" val="481840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38F969-8EFF-4A07-A12C-4C9E8C85B1AC}"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EB7910-9D4C-477A-8ECF-86794F2D0224}" type="slidenum">
              <a:rPr lang="en-US" smtClean="0"/>
              <a:t>‹#›</a:t>
            </a:fld>
            <a:endParaRPr lang="en-US"/>
          </a:p>
        </p:txBody>
      </p:sp>
    </p:spTree>
    <p:extLst>
      <p:ext uri="{BB962C8B-B14F-4D97-AF65-F5344CB8AC3E}">
        <p14:creationId xmlns:p14="http://schemas.microsoft.com/office/powerpoint/2010/main" val="423080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838F969-8EFF-4A07-A12C-4C9E8C85B1AC}"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EB7910-9D4C-477A-8ECF-86794F2D0224}" type="slidenum">
              <a:rPr lang="en-US" smtClean="0"/>
              <a:t>‹#›</a:t>
            </a:fld>
            <a:endParaRPr lang="en-US"/>
          </a:p>
        </p:txBody>
      </p:sp>
    </p:spTree>
    <p:extLst>
      <p:ext uri="{BB962C8B-B14F-4D97-AF65-F5344CB8AC3E}">
        <p14:creationId xmlns:p14="http://schemas.microsoft.com/office/powerpoint/2010/main" val="33246151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838F969-8EFF-4A07-A12C-4C9E8C85B1AC}"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EB7910-9D4C-477A-8ECF-86794F2D0224}" type="slidenum">
              <a:rPr lang="en-US" smtClean="0"/>
              <a:t>‹#›</a:t>
            </a:fld>
            <a:endParaRPr lang="en-US"/>
          </a:p>
        </p:txBody>
      </p:sp>
    </p:spTree>
    <p:extLst>
      <p:ext uri="{BB962C8B-B14F-4D97-AF65-F5344CB8AC3E}">
        <p14:creationId xmlns:p14="http://schemas.microsoft.com/office/powerpoint/2010/main" val="613466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38F969-8EFF-4A07-A12C-4C9E8C85B1AC}" type="datetimeFigureOut">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CEB7910-9D4C-477A-8ECF-86794F2D0224}" type="slidenum">
              <a:rPr lang="en-US" smtClean="0"/>
              <a:t>‹#›</a:t>
            </a:fld>
            <a:endParaRPr lang="en-US"/>
          </a:p>
        </p:txBody>
      </p:sp>
    </p:spTree>
    <p:extLst>
      <p:ext uri="{BB962C8B-B14F-4D97-AF65-F5344CB8AC3E}">
        <p14:creationId xmlns:p14="http://schemas.microsoft.com/office/powerpoint/2010/main" val="1279945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38F969-8EFF-4A07-A12C-4C9E8C85B1AC}" type="datetimeFigureOut">
              <a:rPr lang="en-US" smtClean="0"/>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CEB7910-9D4C-477A-8ECF-86794F2D0224}" type="slidenum">
              <a:rPr lang="en-US" smtClean="0"/>
              <a:t>‹#›</a:t>
            </a:fld>
            <a:endParaRPr lang="en-US"/>
          </a:p>
        </p:txBody>
      </p:sp>
    </p:spTree>
    <p:extLst>
      <p:ext uri="{BB962C8B-B14F-4D97-AF65-F5344CB8AC3E}">
        <p14:creationId xmlns:p14="http://schemas.microsoft.com/office/powerpoint/2010/main" val="364259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38F969-8EFF-4A07-A12C-4C9E8C85B1AC}" type="datetimeFigureOut">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CEB7910-9D4C-477A-8ECF-86794F2D0224}" type="slidenum">
              <a:rPr lang="en-US" smtClean="0"/>
              <a:t>‹#›</a:t>
            </a:fld>
            <a:endParaRPr lang="en-US"/>
          </a:p>
        </p:txBody>
      </p:sp>
    </p:spTree>
    <p:extLst>
      <p:ext uri="{BB962C8B-B14F-4D97-AF65-F5344CB8AC3E}">
        <p14:creationId xmlns:p14="http://schemas.microsoft.com/office/powerpoint/2010/main" val="16883289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38F969-8EFF-4A07-A12C-4C9E8C85B1AC}"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EB7910-9D4C-477A-8ECF-86794F2D0224}" type="slidenum">
              <a:rPr lang="en-US" smtClean="0"/>
              <a:t>‹#›</a:t>
            </a:fld>
            <a:endParaRPr lang="en-US"/>
          </a:p>
        </p:txBody>
      </p:sp>
    </p:spTree>
    <p:extLst>
      <p:ext uri="{BB962C8B-B14F-4D97-AF65-F5344CB8AC3E}">
        <p14:creationId xmlns:p14="http://schemas.microsoft.com/office/powerpoint/2010/main" val="3839536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38F969-8EFF-4A07-A12C-4C9E8C85B1AC}"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EB7910-9D4C-477A-8ECF-86794F2D0224}" type="slidenum">
              <a:rPr lang="en-US" smtClean="0"/>
              <a:t>‹#›</a:t>
            </a:fld>
            <a:endParaRPr lang="en-US"/>
          </a:p>
        </p:txBody>
      </p:sp>
    </p:spTree>
    <p:extLst>
      <p:ext uri="{BB962C8B-B14F-4D97-AF65-F5344CB8AC3E}">
        <p14:creationId xmlns:p14="http://schemas.microsoft.com/office/powerpoint/2010/main" val="226364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38F969-8EFF-4A07-A12C-4C9E8C85B1AC}"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EB7910-9D4C-477A-8ECF-86794F2D0224}" type="slidenum">
              <a:rPr lang="en-US" smtClean="0"/>
              <a:t>‹#›</a:t>
            </a:fld>
            <a:endParaRPr lang="en-US"/>
          </a:p>
        </p:txBody>
      </p:sp>
    </p:spTree>
    <p:extLst>
      <p:ext uri="{BB962C8B-B14F-4D97-AF65-F5344CB8AC3E}">
        <p14:creationId xmlns:p14="http://schemas.microsoft.com/office/powerpoint/2010/main" val="14813940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38F969-8EFF-4A07-A12C-4C9E8C85B1AC}"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EB7910-9D4C-477A-8ECF-86794F2D0224}" type="slidenum">
              <a:rPr lang="en-US" smtClean="0"/>
              <a:t>‹#›</a:t>
            </a:fld>
            <a:endParaRPr lang="en-US"/>
          </a:p>
        </p:txBody>
      </p:sp>
    </p:spTree>
    <p:extLst>
      <p:ext uri="{BB962C8B-B14F-4D97-AF65-F5344CB8AC3E}">
        <p14:creationId xmlns:p14="http://schemas.microsoft.com/office/powerpoint/2010/main" val="19924654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38F969-8EFF-4A07-A12C-4C9E8C85B1AC}" type="datetimeFigureOut">
              <a:rPr lang="en-US" smtClean="0"/>
              <a:t>10/27/2026</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EB7910-9D4C-477A-8ECF-86794F2D0224}" type="slidenum">
              <a:rPr lang="en-US" smtClean="0"/>
              <a:t>‹#›</a:t>
            </a:fld>
            <a:endParaRPr lang="en-US"/>
          </a:p>
        </p:txBody>
      </p:sp>
    </p:spTree>
    <p:extLst>
      <p:ext uri="{BB962C8B-B14F-4D97-AF65-F5344CB8AC3E}">
        <p14:creationId xmlns:p14="http://schemas.microsoft.com/office/powerpoint/2010/main" val="20152764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3" Type="http://schemas.openxmlformats.org/officeDocument/2006/relationships/hyperlink" Target="https://www.sciencedirect.com/science/article/pii/S2212094718302044#bib17"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1.JPG"/><Relationship Id="rId3" Type="http://schemas.openxmlformats.org/officeDocument/2006/relationships/diagramLayout" Target="../diagrams/layout2.xml"/><Relationship Id="rId7" Type="http://schemas.openxmlformats.org/officeDocument/2006/relationships/image" Target="../media/image10.JP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hyperlink" Target="https://www.sciencedirect.com/science/article/pii/S2212094718302044#bib20" TargetMode="External"/><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g"/><Relationship Id="rId7" Type="http://schemas.openxmlformats.org/officeDocument/2006/relationships/hyperlink" Target="https://www.sciencedirect.com/science/article/pii/S2212094718302044#bib10" TargetMode="External"/><Relationship Id="rId2" Type="http://schemas.openxmlformats.org/officeDocument/2006/relationships/image" Target="../media/image14.jpg"/><Relationship Id="rId1" Type="http://schemas.openxmlformats.org/officeDocument/2006/relationships/slideLayout" Target="../slideLayouts/slideLayout2.xml"/><Relationship Id="rId6" Type="http://schemas.openxmlformats.org/officeDocument/2006/relationships/hyperlink" Target="https://www.sciencedirect.com/science/article/pii/S2212094718302044#bib27" TargetMode="External"/><Relationship Id="rId5" Type="http://schemas.openxmlformats.org/officeDocument/2006/relationships/image" Target="../media/image16.png"/><Relationship Id="rId4" Type="http://schemas.openxmlformats.org/officeDocument/2006/relationships/hyperlink" Target="https://www.sciencedirect.com/science/article/pii/S2212094718302044#bib38"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sciencedirect.com/science/article/pii/S2212094718302044#bib7"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3" name="Rectangle 22">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ight Triangle 24">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26">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4C0A90-20A9-82AD-5E87-013CCC2D7261}"/>
              </a:ext>
            </a:extLst>
          </p:cNvPr>
          <p:cNvSpPr>
            <a:spLocks noGrp="1"/>
          </p:cNvSpPr>
          <p:nvPr>
            <p:ph type="title"/>
          </p:nvPr>
        </p:nvSpPr>
        <p:spPr>
          <a:xfrm>
            <a:off x="1195176" y="988464"/>
            <a:ext cx="10039842" cy="1720560"/>
          </a:xfrm>
        </p:spPr>
        <p:txBody>
          <a:bodyPr vert="horz" lIns="91440" tIns="45720" rIns="91440" bIns="45720" rtlCol="0" anchor="ctr">
            <a:normAutofit/>
          </a:bodyPr>
          <a:lstStyle/>
          <a:p>
            <a:r>
              <a:rPr lang="en-US" sz="2800" b="1" kern="1200" dirty="0">
                <a:solidFill>
                  <a:schemeClr val="tx1"/>
                </a:solidFill>
                <a:latin typeface="+mj-lt"/>
                <a:ea typeface="+mj-ea"/>
                <a:cs typeface="+mj-cs"/>
              </a:rPr>
              <a:t>Characterization of hydro-meteorological drought in Nepal Himalaya: </a:t>
            </a:r>
            <a:br>
              <a:rPr lang="en-US" sz="2800" b="1" kern="1200" dirty="0">
                <a:solidFill>
                  <a:schemeClr val="tx1"/>
                </a:solidFill>
                <a:latin typeface="+mj-lt"/>
                <a:ea typeface="+mj-ea"/>
                <a:cs typeface="+mj-cs"/>
              </a:rPr>
            </a:br>
            <a:r>
              <a:rPr lang="en-US" sz="2800" b="1" kern="1200" dirty="0">
                <a:solidFill>
                  <a:schemeClr val="tx1"/>
                </a:solidFill>
                <a:latin typeface="+mj-lt"/>
                <a:ea typeface="+mj-ea"/>
                <a:cs typeface="+mj-cs"/>
              </a:rPr>
              <a:t>A case of </a:t>
            </a:r>
            <a:r>
              <a:rPr lang="en-US" sz="2800" b="1" kern="1200" dirty="0" err="1">
                <a:solidFill>
                  <a:schemeClr val="tx1"/>
                </a:solidFill>
                <a:latin typeface="+mj-lt"/>
                <a:ea typeface="+mj-ea"/>
                <a:cs typeface="+mj-cs"/>
              </a:rPr>
              <a:t>Karnali</a:t>
            </a:r>
            <a:r>
              <a:rPr lang="en-US" sz="2800" b="1" kern="1200" dirty="0">
                <a:solidFill>
                  <a:schemeClr val="tx1"/>
                </a:solidFill>
                <a:latin typeface="+mj-lt"/>
                <a:ea typeface="+mj-ea"/>
                <a:cs typeface="+mj-cs"/>
              </a:rPr>
              <a:t> River Basin</a:t>
            </a:r>
          </a:p>
        </p:txBody>
      </p:sp>
      <p:pic>
        <p:nvPicPr>
          <p:cNvPr id="5" name="Content Placeholder 4">
            <a:extLst>
              <a:ext uri="{FF2B5EF4-FFF2-40B4-BE49-F238E27FC236}">
                <a16:creationId xmlns:a16="http://schemas.microsoft.com/office/drawing/2014/main" id="{799492A0-513D-E063-365A-EBAACBF066F7}"/>
              </a:ext>
            </a:extLst>
          </p:cNvPr>
          <p:cNvPicPr>
            <a:picLocks noGrp="1" noChangeAspect="1"/>
          </p:cNvPicPr>
          <p:nvPr>
            <p:ph idx="1"/>
          </p:nvPr>
        </p:nvPicPr>
        <p:blipFill>
          <a:blip r:embed="rId2"/>
          <a:stretch>
            <a:fillRect/>
          </a:stretch>
        </p:blipFill>
        <p:spPr>
          <a:xfrm>
            <a:off x="1339047" y="2470006"/>
            <a:ext cx="5228102" cy="1137111"/>
          </a:xfrm>
          <a:prstGeom prst="rect">
            <a:avLst/>
          </a:prstGeom>
        </p:spPr>
      </p:pic>
      <p:sp>
        <p:nvSpPr>
          <p:cNvPr id="4" name="TextBox 3">
            <a:extLst>
              <a:ext uri="{FF2B5EF4-FFF2-40B4-BE49-F238E27FC236}">
                <a16:creationId xmlns:a16="http://schemas.microsoft.com/office/drawing/2014/main" id="{23DC7A20-DAFC-DFBE-CDF2-8F44964A4A3B}"/>
              </a:ext>
            </a:extLst>
          </p:cNvPr>
          <p:cNvSpPr txBox="1"/>
          <p:nvPr/>
        </p:nvSpPr>
        <p:spPr>
          <a:xfrm>
            <a:off x="1809936" y="3607117"/>
            <a:ext cx="7745969" cy="1408222"/>
          </a:xfrm>
          <a:prstGeom prst="rect">
            <a:avLst/>
          </a:prstGeom>
        </p:spPr>
        <p:txBody>
          <a:bodyPr vert="horz" lIns="91440" tIns="45720" rIns="91440" bIns="45720" rtlCol="0" anchor="t">
            <a:normAutofit fontScale="92500" lnSpcReduction="20000"/>
          </a:bodyPr>
          <a:lstStyle/>
          <a:p>
            <a:pPr defTabSz="914400">
              <a:lnSpc>
                <a:spcPct val="90000"/>
              </a:lnSpc>
              <a:spcAft>
                <a:spcPts val="600"/>
              </a:spcAft>
            </a:pPr>
            <a:r>
              <a:rPr lang="en-US" sz="1400" i="0" dirty="0">
                <a:effectLst/>
              </a:rPr>
              <a:t>a. </a:t>
            </a:r>
          </a:p>
          <a:p>
            <a:pPr defTabSz="914400">
              <a:lnSpc>
                <a:spcPct val="90000"/>
              </a:lnSpc>
              <a:spcAft>
                <a:spcPts val="600"/>
              </a:spcAft>
            </a:pPr>
            <a:r>
              <a:rPr lang="en-US" sz="1400" dirty="0">
                <a:effectLst/>
              </a:rPr>
              <a:t>Senior Graduate Assistant, University of Arkansas, Arkansas, US</a:t>
            </a:r>
            <a:endParaRPr lang="en-US" sz="1400" i="0" dirty="0">
              <a:effectLst/>
            </a:endParaRPr>
          </a:p>
          <a:p>
            <a:pPr indent="-228600" defTabSz="914400">
              <a:lnSpc>
                <a:spcPct val="90000"/>
              </a:lnSpc>
              <a:spcAft>
                <a:spcPts val="600"/>
              </a:spcAft>
              <a:buFont typeface="Arial" panose="020B0604020202020204" pitchFamily="34" charset="0"/>
              <a:buChar char="•"/>
            </a:pPr>
            <a:endParaRPr lang="en-US" sz="1400" dirty="0"/>
          </a:p>
          <a:p>
            <a:pPr defTabSz="914400">
              <a:lnSpc>
                <a:spcPct val="90000"/>
              </a:lnSpc>
              <a:spcAft>
                <a:spcPts val="600"/>
              </a:spcAft>
            </a:pPr>
            <a:r>
              <a:rPr lang="en-US" sz="1400" i="0" dirty="0">
                <a:effectLst/>
              </a:rPr>
              <a:t>b. </a:t>
            </a:r>
          </a:p>
          <a:p>
            <a:pPr defTabSz="914400">
              <a:lnSpc>
                <a:spcPct val="90000"/>
              </a:lnSpc>
              <a:spcAft>
                <a:spcPts val="600"/>
              </a:spcAft>
            </a:pPr>
            <a:r>
              <a:rPr lang="en-US" sz="1400" i="0" dirty="0">
                <a:effectLst/>
              </a:rPr>
              <a:t>Professor (Water Resources), Department of Civil Engineering, </a:t>
            </a:r>
            <a:r>
              <a:rPr lang="en-US" sz="1400" i="0" dirty="0" err="1">
                <a:effectLst/>
              </a:rPr>
              <a:t>Pulchowk</a:t>
            </a:r>
            <a:r>
              <a:rPr lang="en-US" sz="1400" i="0" dirty="0">
                <a:effectLst/>
              </a:rPr>
              <a:t> Campus</a:t>
            </a:r>
          </a:p>
          <a:p>
            <a:pPr defTabSz="914400">
              <a:lnSpc>
                <a:spcPct val="90000"/>
              </a:lnSpc>
              <a:spcAft>
                <a:spcPts val="600"/>
              </a:spcAft>
            </a:pPr>
            <a:r>
              <a:rPr lang="en-US" sz="1400" i="0" dirty="0">
                <a:effectLst/>
              </a:rPr>
              <a:t>Deputy Director, Center for Water Resources Studies (CWRS)</a:t>
            </a:r>
          </a:p>
        </p:txBody>
      </p:sp>
      <p:sp>
        <p:nvSpPr>
          <p:cNvPr id="7" name="TextBox 6">
            <a:extLst>
              <a:ext uri="{FF2B5EF4-FFF2-40B4-BE49-F238E27FC236}">
                <a16:creationId xmlns:a16="http://schemas.microsoft.com/office/drawing/2014/main" id="{869903CA-24B9-DBD0-1F92-E475FDEFC517}"/>
              </a:ext>
            </a:extLst>
          </p:cNvPr>
          <p:cNvSpPr txBox="1"/>
          <p:nvPr/>
        </p:nvSpPr>
        <p:spPr>
          <a:xfrm>
            <a:off x="8530046" y="5590266"/>
            <a:ext cx="2913216" cy="646331"/>
          </a:xfrm>
          <a:prstGeom prst="rect">
            <a:avLst/>
          </a:prstGeom>
          <a:noFill/>
        </p:spPr>
        <p:txBody>
          <a:bodyPr wrap="square">
            <a:spAutoFit/>
          </a:bodyPr>
          <a:lstStyle/>
          <a:p>
            <a:pPr algn="r"/>
            <a:r>
              <a:rPr lang="en-US" sz="1200" dirty="0">
                <a:effectLst/>
                <a:latin typeface="Arial" panose="020B0604020202020204" pitchFamily="34" charset="0"/>
              </a:rPr>
              <a:t>12-14 December, 2022</a:t>
            </a:r>
            <a:endParaRPr lang="en-US" sz="1200" dirty="0"/>
          </a:p>
          <a:p>
            <a:pPr algn="r"/>
            <a:r>
              <a:rPr lang="en-US" sz="1200" dirty="0">
                <a:effectLst/>
                <a:latin typeface="Arial" panose="020B0604020202020204" pitchFamily="34" charset="0"/>
              </a:rPr>
              <a:t>International Conference on </a:t>
            </a:r>
            <a:r>
              <a:rPr lang="en-US" sz="1200" dirty="0" err="1">
                <a:effectLst/>
                <a:latin typeface="Arial" panose="020B0604020202020204" pitchFamily="34" charset="0"/>
              </a:rPr>
              <a:t>Sudurpaschim</a:t>
            </a:r>
            <a:r>
              <a:rPr lang="en-US" sz="1200" dirty="0">
                <a:effectLst/>
                <a:latin typeface="Arial" panose="020B0604020202020204" pitchFamily="34" charset="0"/>
              </a:rPr>
              <a:t> Studies</a:t>
            </a:r>
          </a:p>
        </p:txBody>
      </p:sp>
    </p:spTree>
    <p:extLst>
      <p:ext uri="{BB962C8B-B14F-4D97-AF65-F5344CB8AC3E}">
        <p14:creationId xmlns:p14="http://schemas.microsoft.com/office/powerpoint/2010/main" val="4057182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7743AC-09F0-9928-6AD1-9FDD9732C009}"/>
              </a:ext>
            </a:extLst>
          </p:cNvPr>
          <p:cNvSpPr>
            <a:spLocks noGrp="1"/>
          </p:cNvSpPr>
          <p:nvPr>
            <p:ph idx="1"/>
          </p:nvPr>
        </p:nvSpPr>
        <p:spPr>
          <a:xfrm>
            <a:off x="891246" y="2034987"/>
            <a:ext cx="3505494" cy="2301689"/>
          </a:xfrm>
        </p:spPr>
        <p:txBody>
          <a:bodyPr>
            <a:normAutofit/>
          </a:bodyPr>
          <a:lstStyle/>
          <a:p>
            <a:r>
              <a:rPr lang="en-US" sz="2000" dirty="0" err="1"/>
              <a:t>Karnali</a:t>
            </a:r>
            <a:r>
              <a:rPr lang="en-US" sz="2000" dirty="0"/>
              <a:t> River Basin</a:t>
            </a:r>
          </a:p>
          <a:p>
            <a:pPr lvl="1"/>
            <a:r>
              <a:rPr lang="en-US" sz="1600" dirty="0"/>
              <a:t>Area of more than 46,100 km</a:t>
            </a:r>
            <a:r>
              <a:rPr lang="en-US" sz="1600" baseline="30000" dirty="0"/>
              <a:t>2</a:t>
            </a:r>
          </a:p>
          <a:p>
            <a:pPr lvl="1"/>
            <a:endParaRPr lang="en-US" sz="1600" baseline="30000" dirty="0"/>
          </a:p>
          <a:p>
            <a:pPr lvl="1"/>
            <a:r>
              <a:rPr lang="en-US" sz="1600" dirty="0"/>
              <a:t>The elevation in the basin varies from 100 to 7 721 m above sea level (</a:t>
            </a:r>
            <a:r>
              <a:rPr lang="en-US" sz="1600" dirty="0" err="1"/>
              <a:t>masl</a:t>
            </a:r>
            <a:r>
              <a:rPr lang="en-US" sz="1600" dirty="0"/>
              <a:t>)</a:t>
            </a:r>
          </a:p>
          <a:p>
            <a:pPr lvl="1"/>
            <a:endParaRPr lang="en-US" sz="1600" dirty="0"/>
          </a:p>
          <a:p>
            <a:pPr lvl="1"/>
            <a:r>
              <a:rPr lang="en-US" sz="1600" dirty="0"/>
              <a:t>Major three sub-basins</a:t>
            </a:r>
          </a:p>
        </p:txBody>
      </p:sp>
      <p:sp>
        <p:nvSpPr>
          <p:cNvPr id="22" name="Rectangle 9">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80A2334-DF89-ED2B-C1A4-D7A82FEDF02D}"/>
              </a:ext>
            </a:extLst>
          </p:cNvPr>
          <p:cNvPicPr>
            <a:picLocks noChangeAspect="1"/>
          </p:cNvPicPr>
          <p:nvPr/>
        </p:nvPicPr>
        <p:blipFill>
          <a:blip r:embed="rId2"/>
          <a:stretch>
            <a:fillRect/>
          </a:stretch>
        </p:blipFill>
        <p:spPr>
          <a:xfrm>
            <a:off x="5405862" y="781752"/>
            <a:ext cx="6019331" cy="5116431"/>
          </a:xfrm>
          <a:prstGeom prst="rect">
            <a:avLst/>
          </a:prstGeom>
          <a:effectLst/>
        </p:spPr>
      </p:pic>
      <p:sp>
        <p:nvSpPr>
          <p:cNvPr id="4" name="TextBox 3">
            <a:extLst>
              <a:ext uri="{FF2B5EF4-FFF2-40B4-BE49-F238E27FC236}">
                <a16:creationId xmlns:a16="http://schemas.microsoft.com/office/drawing/2014/main" id="{BA557A7E-659D-7BA0-C690-6FC2AC63F543}"/>
              </a:ext>
            </a:extLst>
          </p:cNvPr>
          <p:cNvSpPr txBox="1"/>
          <p:nvPr/>
        </p:nvSpPr>
        <p:spPr>
          <a:xfrm>
            <a:off x="4525875" y="6408208"/>
            <a:ext cx="7779304" cy="338554"/>
          </a:xfrm>
          <a:prstGeom prst="rect">
            <a:avLst/>
          </a:prstGeom>
          <a:noFill/>
        </p:spPr>
        <p:txBody>
          <a:bodyPr wrap="square">
            <a:spAutoFit/>
          </a:bodyPr>
          <a:lstStyle/>
          <a:p>
            <a:pPr>
              <a:spcAft>
                <a:spcPts val="600"/>
              </a:spcAft>
            </a:pPr>
            <a:r>
              <a:rPr lang="en-US" sz="1600" dirty="0"/>
              <a:t>Location of </a:t>
            </a:r>
            <a:r>
              <a:rPr lang="en-US" sz="1600" dirty="0" err="1"/>
              <a:t>Karnali</a:t>
            </a:r>
            <a:r>
              <a:rPr lang="en-US" sz="1600" dirty="0"/>
              <a:t> River Basin in Nepal and hydro-meteorological stations used in this study.</a:t>
            </a:r>
          </a:p>
        </p:txBody>
      </p:sp>
    </p:spTree>
    <p:extLst>
      <p:ext uri="{BB962C8B-B14F-4D97-AF65-F5344CB8AC3E}">
        <p14:creationId xmlns:p14="http://schemas.microsoft.com/office/powerpoint/2010/main" val="1852715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picture containing mountain, sky, outdoor, nature&#10;&#10;Description automatically generated">
            <a:extLst>
              <a:ext uri="{FF2B5EF4-FFF2-40B4-BE49-F238E27FC236}">
                <a16:creationId xmlns:a16="http://schemas.microsoft.com/office/drawing/2014/main" id="{092EEBF8-9510-03C0-8445-D15F3555C8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2938" y="771525"/>
            <a:ext cx="3722688" cy="2465388"/>
          </a:xfrm>
          <a:prstGeom prst="rect">
            <a:avLst/>
          </a:prstGeom>
        </p:spPr>
      </p:pic>
      <p:sp>
        <p:nvSpPr>
          <p:cNvPr id="14" name="TextBox 13">
            <a:extLst>
              <a:ext uri="{FF2B5EF4-FFF2-40B4-BE49-F238E27FC236}">
                <a16:creationId xmlns:a16="http://schemas.microsoft.com/office/drawing/2014/main" id="{79D6DB3E-0E6A-A280-C184-7267C87456C1}"/>
              </a:ext>
            </a:extLst>
          </p:cNvPr>
          <p:cNvSpPr txBox="1"/>
          <p:nvPr/>
        </p:nvSpPr>
        <p:spPr>
          <a:xfrm>
            <a:off x="642938" y="2744788"/>
            <a:ext cx="3722688" cy="493713"/>
          </a:xfrm>
          <a:prstGeom prst="rect">
            <a:avLst/>
          </a:prstGeom>
          <a:solidFill>
            <a:schemeClr val="bg1">
              <a:lumMod val="75000"/>
              <a:alpha val="50000"/>
            </a:schemeClr>
          </a:solidFill>
          <a:ln>
            <a:noFill/>
          </a:ln>
        </p:spPr>
        <p:txBody>
          <a:bodyPr wrap="square" rtlCol="0" anchor="ctr">
            <a:noAutofit/>
          </a:bodyPr>
          <a:lstStyle/>
          <a:p>
            <a:pPr>
              <a:spcAft>
                <a:spcPts val="600"/>
              </a:spcAft>
            </a:pPr>
            <a:r>
              <a:rPr lang="en-US" sz="1050" dirty="0" err="1">
                <a:solidFill>
                  <a:srgbClr val="FFFFFF"/>
                </a:solidFill>
              </a:rPr>
              <a:t>Humla</a:t>
            </a:r>
            <a:r>
              <a:rPr lang="en-US" sz="1050" dirty="0">
                <a:solidFill>
                  <a:srgbClr val="FFFFFF"/>
                </a:solidFill>
              </a:rPr>
              <a:t>, near to </a:t>
            </a:r>
            <a:r>
              <a:rPr lang="en-US" sz="1050" dirty="0" err="1">
                <a:solidFill>
                  <a:srgbClr val="FFFFFF"/>
                </a:solidFill>
              </a:rPr>
              <a:t>Simkot</a:t>
            </a:r>
            <a:endParaRPr lang="en-US" sz="1050" dirty="0">
              <a:solidFill>
                <a:srgbClr val="FFFFFF"/>
              </a:solidFill>
            </a:endParaRPr>
          </a:p>
        </p:txBody>
      </p:sp>
      <p:pic>
        <p:nvPicPr>
          <p:cNvPr id="5" name="Content Placeholder 4" descr="A picture containing mountain, outdoor, nature, highland&#10;&#10;Description automatically generated">
            <a:extLst>
              <a:ext uri="{FF2B5EF4-FFF2-40B4-BE49-F238E27FC236}">
                <a16:creationId xmlns:a16="http://schemas.microsoft.com/office/drawing/2014/main" id="{A4024D96-9944-A7D5-9C88-BC98467A903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42938" y="3311525"/>
            <a:ext cx="3722688" cy="2771775"/>
          </a:xfrm>
        </p:spPr>
      </p:pic>
      <p:sp>
        <p:nvSpPr>
          <p:cNvPr id="9" name="TextBox 8">
            <a:extLst>
              <a:ext uri="{FF2B5EF4-FFF2-40B4-BE49-F238E27FC236}">
                <a16:creationId xmlns:a16="http://schemas.microsoft.com/office/drawing/2014/main" id="{759A506E-DB9D-F86F-7C28-411C2CCBF2DE}"/>
              </a:ext>
            </a:extLst>
          </p:cNvPr>
          <p:cNvSpPr txBox="1"/>
          <p:nvPr/>
        </p:nvSpPr>
        <p:spPr>
          <a:xfrm>
            <a:off x="642938" y="5591175"/>
            <a:ext cx="3722688" cy="493713"/>
          </a:xfrm>
          <a:prstGeom prst="rect">
            <a:avLst/>
          </a:prstGeom>
          <a:solidFill>
            <a:schemeClr val="bg1">
              <a:lumMod val="75000"/>
              <a:alpha val="50000"/>
            </a:schemeClr>
          </a:solidFill>
          <a:ln>
            <a:noFill/>
          </a:ln>
        </p:spPr>
        <p:txBody>
          <a:bodyPr wrap="square" rtlCol="0" anchor="ctr">
            <a:noAutofit/>
          </a:bodyPr>
          <a:lstStyle/>
          <a:p>
            <a:pPr>
              <a:spcAft>
                <a:spcPts val="600"/>
              </a:spcAft>
            </a:pPr>
            <a:r>
              <a:rPr lang="en-US" sz="1050" dirty="0" err="1">
                <a:solidFill>
                  <a:srgbClr val="FFFFFF"/>
                </a:solidFill>
              </a:rPr>
              <a:t>Jumla</a:t>
            </a:r>
            <a:r>
              <a:rPr lang="en-US" sz="1050" dirty="0">
                <a:solidFill>
                  <a:srgbClr val="FFFFFF"/>
                </a:solidFill>
              </a:rPr>
              <a:t>, near to </a:t>
            </a:r>
            <a:r>
              <a:rPr lang="en-US" sz="1050" dirty="0" err="1">
                <a:solidFill>
                  <a:srgbClr val="FFFFFF"/>
                </a:solidFill>
              </a:rPr>
              <a:t>Chandannath</a:t>
            </a:r>
            <a:r>
              <a:rPr lang="en-US" sz="1050" dirty="0">
                <a:solidFill>
                  <a:srgbClr val="FFFFFF"/>
                </a:solidFill>
              </a:rPr>
              <a:t> municipality</a:t>
            </a:r>
          </a:p>
        </p:txBody>
      </p:sp>
      <p:pic>
        <p:nvPicPr>
          <p:cNvPr id="11" name="Picture 10" descr="A picture containing grass, outdoor, sky&#10;&#10;Description automatically generated">
            <a:extLst>
              <a:ext uri="{FF2B5EF4-FFF2-40B4-BE49-F238E27FC236}">
                <a16:creationId xmlns:a16="http://schemas.microsoft.com/office/drawing/2014/main" id="{7F1CB766-CE27-336B-9D42-750DB8867A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40238" y="771525"/>
            <a:ext cx="7107238" cy="5311775"/>
          </a:xfrm>
          <a:prstGeom prst="rect">
            <a:avLst/>
          </a:prstGeom>
        </p:spPr>
      </p:pic>
      <p:sp>
        <p:nvSpPr>
          <p:cNvPr id="8" name="TextBox 7">
            <a:extLst>
              <a:ext uri="{FF2B5EF4-FFF2-40B4-BE49-F238E27FC236}">
                <a16:creationId xmlns:a16="http://schemas.microsoft.com/office/drawing/2014/main" id="{AC2CB2BD-7249-5988-AD65-30393C189939}"/>
              </a:ext>
            </a:extLst>
          </p:cNvPr>
          <p:cNvSpPr txBox="1"/>
          <p:nvPr/>
        </p:nvSpPr>
        <p:spPr>
          <a:xfrm>
            <a:off x="4440238" y="5591175"/>
            <a:ext cx="7107238" cy="493713"/>
          </a:xfrm>
          <a:prstGeom prst="rect">
            <a:avLst/>
          </a:prstGeom>
          <a:solidFill>
            <a:schemeClr val="bg1">
              <a:lumMod val="75000"/>
              <a:alpha val="50000"/>
            </a:schemeClr>
          </a:solidFill>
          <a:ln>
            <a:noFill/>
          </a:ln>
        </p:spPr>
        <p:txBody>
          <a:bodyPr wrap="square" rtlCol="0" anchor="ctr">
            <a:noAutofit/>
          </a:bodyPr>
          <a:lstStyle/>
          <a:p>
            <a:pPr>
              <a:spcAft>
                <a:spcPts val="600"/>
              </a:spcAft>
            </a:pPr>
            <a:r>
              <a:rPr lang="en-US" sz="1050" dirty="0" err="1">
                <a:solidFill>
                  <a:srgbClr val="FFFFFF"/>
                </a:solidFill>
              </a:rPr>
              <a:t>Rukum</a:t>
            </a:r>
            <a:r>
              <a:rPr lang="en-US" sz="1050" dirty="0">
                <a:solidFill>
                  <a:srgbClr val="FFFFFF"/>
                </a:solidFill>
              </a:rPr>
              <a:t>, near to </a:t>
            </a:r>
            <a:r>
              <a:rPr lang="en-US" sz="1050" dirty="0" err="1">
                <a:solidFill>
                  <a:srgbClr val="FFFFFF"/>
                </a:solidFill>
              </a:rPr>
              <a:t>Taksera</a:t>
            </a:r>
            <a:endParaRPr lang="en-US" sz="1050" dirty="0">
              <a:solidFill>
                <a:srgbClr val="FFFFFF"/>
              </a:solidFill>
            </a:endParaRPr>
          </a:p>
        </p:txBody>
      </p:sp>
    </p:spTree>
    <p:extLst>
      <p:ext uri="{BB962C8B-B14F-4D97-AF65-F5344CB8AC3E}">
        <p14:creationId xmlns:p14="http://schemas.microsoft.com/office/powerpoint/2010/main" val="3126741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A5790090-4A24-591A-A4C7-5E2A6C595D49}"/>
              </a:ext>
            </a:extLst>
          </p:cNvPr>
          <p:cNvPicPr>
            <a:picLocks noChangeAspect="1"/>
          </p:cNvPicPr>
          <p:nvPr/>
        </p:nvPicPr>
        <p:blipFill>
          <a:blip r:embed="rId2"/>
          <a:stretch>
            <a:fillRect/>
          </a:stretch>
        </p:blipFill>
        <p:spPr>
          <a:xfrm>
            <a:off x="186267" y="255940"/>
            <a:ext cx="6781752" cy="4950681"/>
          </a:xfrm>
          <a:prstGeom prst="rect">
            <a:avLst/>
          </a:prstGeom>
        </p:spPr>
      </p:pic>
      <p:grpSp>
        <p:nvGrpSpPr>
          <p:cNvPr id="16" name="Group 15">
            <a:extLst>
              <a:ext uri="{FF2B5EF4-FFF2-40B4-BE49-F238E27FC236}">
                <a16:creationId xmlns:a16="http://schemas.microsoft.com/office/drawing/2014/main" id="{4724F874-E407-41A5-918C-1CF5DF5269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0"/>
            <a:ext cx="1097280" cy="1097280"/>
            <a:chOff x="11094720" y="0"/>
            <a:chExt cx="1097280" cy="1097280"/>
          </a:xfrm>
        </p:grpSpPr>
        <p:sp>
          <p:nvSpPr>
            <p:cNvPr id="17" name="Isosceles Triangle 16">
              <a:extLst>
                <a:ext uri="{FF2B5EF4-FFF2-40B4-BE49-F238E27FC236}">
                  <a16:creationId xmlns:a16="http://schemas.microsoft.com/office/drawing/2014/main" id="{EBB12D3E-DD63-469B-A687-14E38AE471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1094720" y="0"/>
              <a:ext cx="1097280" cy="1097280"/>
            </a:xfrm>
            <a:prstGeom prst="triangle">
              <a:avLst>
                <a:gd name="adj" fmla="val 10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2CC10F17-490D-41AE-9B38-7F39AF7384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189552" y="127618"/>
              <a:ext cx="457894" cy="457894"/>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92135DCB-4B77-F497-0D04-0CFD6B5DEB30}"/>
              </a:ext>
            </a:extLst>
          </p:cNvPr>
          <p:cNvSpPr>
            <a:spLocks noGrp="1"/>
          </p:cNvSpPr>
          <p:nvPr>
            <p:ph idx="1"/>
          </p:nvPr>
        </p:nvSpPr>
        <p:spPr>
          <a:xfrm>
            <a:off x="7011803" y="812639"/>
            <a:ext cx="4852848" cy="4148322"/>
          </a:xfrm>
        </p:spPr>
        <p:txBody>
          <a:bodyPr>
            <a:normAutofit/>
          </a:bodyPr>
          <a:lstStyle/>
          <a:p>
            <a:endParaRPr lang="en-US" sz="2000" dirty="0"/>
          </a:p>
          <a:p>
            <a:r>
              <a:rPr lang="en-US" sz="2000" dirty="0"/>
              <a:t>The average annual precipitation in the basin is 1479 mm and </a:t>
            </a:r>
          </a:p>
          <a:p>
            <a:pPr lvl="1">
              <a:buFont typeface="Wingdings" panose="05000000000000000000" pitchFamily="2" charset="2"/>
              <a:buChar char="q"/>
            </a:pPr>
            <a:r>
              <a:rPr lang="en-US" sz="2000" dirty="0"/>
              <a:t>77% of this rainfall occurs during the summer monsoon season (June to September), </a:t>
            </a:r>
          </a:p>
          <a:p>
            <a:pPr lvl="1">
              <a:buFont typeface="Wingdings" panose="05000000000000000000" pitchFamily="2" charset="2"/>
              <a:buChar char="q"/>
            </a:pPr>
            <a:r>
              <a:rPr lang="en-US" sz="2000" dirty="0"/>
              <a:t>whereas only 7% occurs in winter (December to February). </a:t>
            </a:r>
          </a:p>
          <a:p>
            <a:pPr lvl="1">
              <a:buFont typeface="Wingdings" panose="05000000000000000000" pitchFamily="2" charset="2"/>
              <a:buChar char="q"/>
            </a:pPr>
            <a:r>
              <a:rPr lang="en-US" sz="2000" dirty="0"/>
              <a:t>Pre-monsoon (March to May) precipitation accounts for 12% of the annual</a:t>
            </a:r>
          </a:p>
          <a:p>
            <a:pPr lvl="1">
              <a:buFont typeface="Wingdings" panose="05000000000000000000" pitchFamily="2" charset="2"/>
              <a:buChar char="q"/>
            </a:pPr>
            <a:r>
              <a:rPr lang="en-US" sz="2000" dirty="0"/>
              <a:t>while post-monsoon (October to November) is only 4%</a:t>
            </a:r>
          </a:p>
          <a:p>
            <a:endParaRPr lang="en-US" sz="2000" dirty="0"/>
          </a:p>
        </p:txBody>
      </p:sp>
      <p:grpSp>
        <p:nvGrpSpPr>
          <p:cNvPr id="20" name="Group 19">
            <a:extLst>
              <a:ext uri="{FF2B5EF4-FFF2-40B4-BE49-F238E27FC236}">
                <a16:creationId xmlns:a16="http://schemas.microsoft.com/office/drawing/2014/main" id="{DC8D6E3B-FFED-480F-941D-FE376375B8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177940" y="4601497"/>
            <a:ext cx="1014060" cy="2017580"/>
            <a:chOff x="11177940" y="4601497"/>
            <a:chExt cx="1014060" cy="2017580"/>
          </a:xfrm>
        </p:grpSpPr>
        <p:sp>
          <p:nvSpPr>
            <p:cNvPr id="21" name="Isosceles Triangle 20">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1067618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27850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88A2CA63-093F-A99C-69E1-B43B2188144D}"/>
              </a:ext>
            </a:extLst>
          </p:cNvPr>
          <p:cNvSpPr txBox="1"/>
          <p:nvPr/>
        </p:nvSpPr>
        <p:spPr>
          <a:xfrm>
            <a:off x="773501" y="5628141"/>
            <a:ext cx="10486981" cy="707886"/>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sz="2000" dirty="0"/>
              <a:t>The summer monsoon, which originates from the Indian Ocean, is the main cause of monsoon precipitation, while westerly influence mostly the winter. </a:t>
            </a:r>
          </a:p>
        </p:txBody>
      </p:sp>
      <p:sp>
        <p:nvSpPr>
          <p:cNvPr id="9" name="TextBox 8">
            <a:extLst>
              <a:ext uri="{FF2B5EF4-FFF2-40B4-BE49-F238E27FC236}">
                <a16:creationId xmlns:a16="http://schemas.microsoft.com/office/drawing/2014/main" id="{14D7EB9C-2D1F-2AB1-D092-6E38691B2BB9}"/>
              </a:ext>
            </a:extLst>
          </p:cNvPr>
          <p:cNvSpPr txBox="1"/>
          <p:nvPr/>
        </p:nvSpPr>
        <p:spPr>
          <a:xfrm>
            <a:off x="-507030" y="5167723"/>
            <a:ext cx="6096000" cy="369332"/>
          </a:xfrm>
          <a:prstGeom prst="rect">
            <a:avLst/>
          </a:prstGeom>
          <a:noFill/>
        </p:spPr>
        <p:txBody>
          <a:bodyPr wrap="square">
            <a:spAutoFit/>
          </a:bodyPr>
          <a:lstStyle/>
          <a:p>
            <a:pPr marL="457200" lvl="1" indent="0">
              <a:spcAft>
                <a:spcPts val="600"/>
              </a:spcAft>
              <a:buNone/>
            </a:pPr>
            <a:r>
              <a:rPr lang="en-US" dirty="0"/>
              <a:t>(</a:t>
            </a:r>
            <a:r>
              <a:rPr lang="en-US" dirty="0">
                <a:hlinkClick r:id="rId3"/>
              </a:rPr>
              <a:t>Khatiwada et al., 2016</a:t>
            </a:r>
            <a:r>
              <a:rPr lang="en-US" dirty="0"/>
              <a:t>)</a:t>
            </a:r>
          </a:p>
        </p:txBody>
      </p:sp>
    </p:spTree>
    <p:extLst>
      <p:ext uri="{BB962C8B-B14F-4D97-AF65-F5344CB8AC3E}">
        <p14:creationId xmlns:p14="http://schemas.microsoft.com/office/powerpoint/2010/main" val="1853280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D2B82E2D-5822-450E-85CC-AE5EDD01EC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395B7296-4964-B66D-A238-3899B248C40C}"/>
              </a:ext>
            </a:extLst>
          </p:cNvPr>
          <p:cNvPicPr>
            <a:picLocks noChangeAspect="1"/>
          </p:cNvPicPr>
          <p:nvPr/>
        </p:nvPicPr>
        <p:blipFill rotWithShape="1">
          <a:blip r:embed="rId2"/>
          <a:srcRect l="4768" r="4769"/>
          <a:stretch/>
        </p:blipFill>
        <p:spPr>
          <a:xfrm>
            <a:off x="2" y="10"/>
            <a:ext cx="4063593" cy="6857990"/>
          </a:xfrm>
          <a:prstGeom prst="rect">
            <a:avLst/>
          </a:prstGeom>
        </p:spPr>
      </p:pic>
      <p:pic>
        <p:nvPicPr>
          <p:cNvPr id="9" name="Picture 8">
            <a:extLst>
              <a:ext uri="{FF2B5EF4-FFF2-40B4-BE49-F238E27FC236}">
                <a16:creationId xmlns:a16="http://schemas.microsoft.com/office/drawing/2014/main" id="{661168F4-6FC6-38A6-5703-729E38624082}"/>
              </a:ext>
            </a:extLst>
          </p:cNvPr>
          <p:cNvPicPr>
            <a:picLocks noChangeAspect="1"/>
          </p:cNvPicPr>
          <p:nvPr/>
        </p:nvPicPr>
        <p:blipFill rotWithShape="1">
          <a:blip r:embed="rId3"/>
          <a:srcRect r="5947"/>
          <a:stretch/>
        </p:blipFill>
        <p:spPr>
          <a:xfrm>
            <a:off x="4064204" y="10"/>
            <a:ext cx="4063593" cy="6857990"/>
          </a:xfrm>
          <a:prstGeom prst="rect">
            <a:avLst/>
          </a:prstGeom>
        </p:spPr>
      </p:pic>
      <p:pic>
        <p:nvPicPr>
          <p:cNvPr id="7" name="Picture 6">
            <a:extLst>
              <a:ext uri="{FF2B5EF4-FFF2-40B4-BE49-F238E27FC236}">
                <a16:creationId xmlns:a16="http://schemas.microsoft.com/office/drawing/2014/main" id="{7DE1A849-0EFA-93C6-9611-24A39F1B1235}"/>
              </a:ext>
            </a:extLst>
          </p:cNvPr>
          <p:cNvPicPr>
            <a:picLocks noChangeAspect="1"/>
          </p:cNvPicPr>
          <p:nvPr/>
        </p:nvPicPr>
        <p:blipFill rotWithShape="1">
          <a:blip r:embed="rId4"/>
          <a:srcRect l="19461" r="10209"/>
          <a:stretch/>
        </p:blipFill>
        <p:spPr>
          <a:xfrm>
            <a:off x="8128407" y="10"/>
            <a:ext cx="4063593" cy="6857990"/>
          </a:xfrm>
          <a:prstGeom prst="rect">
            <a:avLst/>
          </a:prstGeom>
        </p:spPr>
      </p:pic>
    </p:spTree>
    <p:extLst>
      <p:ext uri="{BB962C8B-B14F-4D97-AF65-F5344CB8AC3E}">
        <p14:creationId xmlns:p14="http://schemas.microsoft.com/office/powerpoint/2010/main" val="4105363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9">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Isosceles Triangle 11">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3">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5">
            <a:extLst>
              <a:ext uri="{FF2B5EF4-FFF2-40B4-BE49-F238E27FC236}">
                <a16:creationId xmlns:a16="http://schemas.microsoft.com/office/drawing/2014/main" id="{7D1CF9C3-27BF-4915-B9F6-09FA315798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964860" y="2412031"/>
            <a:ext cx="770263" cy="770263"/>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1C941302-2F3C-863B-0E21-51287204EC86}"/>
              </a:ext>
            </a:extLst>
          </p:cNvPr>
          <p:cNvGraphicFramePr>
            <a:graphicFrameLocks noGrp="1"/>
          </p:cNvGraphicFramePr>
          <p:nvPr>
            <p:ph idx="1"/>
            <p:extLst>
              <p:ext uri="{D42A27DB-BD31-4B8C-83A1-F6EECF244321}">
                <p14:modId xmlns:p14="http://schemas.microsoft.com/office/powerpoint/2010/main" val="1391699668"/>
              </p:ext>
            </p:extLst>
          </p:nvPr>
        </p:nvGraphicFramePr>
        <p:xfrm>
          <a:off x="1253069" y="768542"/>
          <a:ext cx="10076848" cy="51465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24921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7">
            <a:extLst>
              <a:ext uri="{FF2B5EF4-FFF2-40B4-BE49-F238E27FC236}">
                <a16:creationId xmlns:a16="http://schemas.microsoft.com/office/drawing/2014/main" id="{85016AEC-0320-4ED0-8ECB-FE11DDDFE1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9">
            <a:extLst>
              <a:ext uri="{FF2B5EF4-FFF2-40B4-BE49-F238E27FC236}">
                <a16:creationId xmlns:a16="http://schemas.microsoft.com/office/drawing/2014/main" id="{D3CDB30C-1F82-41E6-A067-831D6E8918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11">
            <a:extLst>
              <a:ext uri="{FF2B5EF4-FFF2-40B4-BE49-F238E27FC236}">
                <a16:creationId xmlns:a16="http://schemas.microsoft.com/office/drawing/2014/main" id="{2DDA86DD-F997-4F66-A87C-5B58AB6D19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1540"/>
            <a:ext cx="722376" cy="5071110"/>
          </a:xfrm>
          <a:prstGeom prst="rect">
            <a:avLst/>
          </a:prstGeom>
          <a:solidFill>
            <a:srgbClr val="4C52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13">
            <a:extLst>
              <a:ext uri="{FF2B5EF4-FFF2-40B4-BE49-F238E27FC236}">
                <a16:creationId xmlns:a16="http://schemas.microsoft.com/office/drawing/2014/main" id="{D241B827-437E-40A3-A732-669230D6A5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2435" y="891540"/>
            <a:ext cx="10989565" cy="507111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5C5AA72-FA69-852D-AEF3-ACC0C8507292}"/>
              </a:ext>
            </a:extLst>
          </p:cNvPr>
          <p:cNvSpPr>
            <a:spLocks noGrp="1"/>
          </p:cNvSpPr>
          <p:nvPr>
            <p:ph idx="1"/>
          </p:nvPr>
        </p:nvSpPr>
        <p:spPr>
          <a:xfrm>
            <a:off x="1524000" y="2399099"/>
            <a:ext cx="9465564" cy="3400969"/>
          </a:xfrm>
        </p:spPr>
        <p:txBody>
          <a:bodyPr>
            <a:normAutofit/>
          </a:bodyPr>
          <a:lstStyle/>
          <a:p>
            <a:r>
              <a:rPr lang="en-US" sz="2400" dirty="0"/>
              <a:t>The two specific objectives are –</a:t>
            </a:r>
          </a:p>
          <a:p>
            <a:endParaRPr lang="en-US" sz="2400" dirty="0"/>
          </a:p>
          <a:p>
            <a:pPr marL="457200" lvl="1" indent="0">
              <a:buNone/>
            </a:pPr>
            <a:r>
              <a:rPr lang="en-US" dirty="0" err="1"/>
              <a:t>i</a:t>
            </a:r>
            <a:r>
              <a:rPr lang="en-US" dirty="0"/>
              <a:t>) to compare different drought indices and select suitable one to represent drought scenario in the region; and </a:t>
            </a:r>
          </a:p>
          <a:p>
            <a:pPr marL="457200" lvl="1" indent="0">
              <a:buNone/>
            </a:pPr>
            <a:endParaRPr lang="en-US" dirty="0"/>
          </a:p>
          <a:p>
            <a:pPr marL="457200" lvl="1" indent="0">
              <a:buNone/>
            </a:pPr>
            <a:r>
              <a:rPr lang="en-US" dirty="0"/>
              <a:t>ii) to quantify major drought events in the KRB based on available data.</a:t>
            </a:r>
          </a:p>
        </p:txBody>
      </p:sp>
    </p:spTree>
    <p:extLst>
      <p:ext uri="{BB962C8B-B14F-4D97-AF65-F5344CB8AC3E}">
        <p14:creationId xmlns:p14="http://schemas.microsoft.com/office/powerpoint/2010/main" val="2693858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Content Placeholder 2">
            <a:extLst>
              <a:ext uri="{FF2B5EF4-FFF2-40B4-BE49-F238E27FC236}">
                <a16:creationId xmlns:a16="http://schemas.microsoft.com/office/drawing/2014/main" id="{0717AD55-EF50-E3AB-E1B0-23FC6B78F931}"/>
              </a:ext>
            </a:extLst>
          </p:cNvPr>
          <p:cNvGraphicFramePr>
            <a:graphicFrameLocks noGrp="1"/>
          </p:cNvGraphicFramePr>
          <p:nvPr>
            <p:ph idx="1"/>
          </p:nvPr>
        </p:nvGraphicFramePr>
        <p:xfrm>
          <a:off x="1572038" y="884331"/>
          <a:ext cx="10515600" cy="23708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descr="A picture containing tree, outdoor, plant&#10;&#10;Description automatically generated">
            <a:extLst>
              <a:ext uri="{FF2B5EF4-FFF2-40B4-BE49-F238E27FC236}">
                <a16:creationId xmlns:a16="http://schemas.microsoft.com/office/drawing/2014/main" id="{7934934A-B7D5-5432-E691-F7B13FB30D6B}"/>
              </a:ext>
            </a:extLst>
          </p:cNvPr>
          <p:cNvPicPr>
            <a:picLocks noChangeAspect="1"/>
          </p:cNvPicPr>
          <p:nvPr/>
        </p:nvPicPr>
        <p:blipFill rotWithShape="1">
          <a:blip r:embed="rId7">
            <a:extLst>
              <a:ext uri="{28A0092B-C50C-407E-A947-70E740481C1C}">
                <a14:useLocalDpi xmlns:a14="http://schemas.microsoft.com/office/drawing/2010/main" val="0"/>
              </a:ext>
            </a:extLst>
          </a:blip>
          <a:srcRect r="30980"/>
          <a:stretch/>
        </p:blipFill>
        <p:spPr>
          <a:xfrm>
            <a:off x="0" y="3429000"/>
            <a:ext cx="3155576" cy="3429000"/>
          </a:xfrm>
          <a:prstGeom prst="rect">
            <a:avLst/>
          </a:prstGeom>
        </p:spPr>
      </p:pic>
      <p:pic>
        <p:nvPicPr>
          <p:cNvPr id="6" name="Picture 5" descr="A train on the railway tracks&#10;&#10;Description automatically generated with medium confidence">
            <a:extLst>
              <a:ext uri="{FF2B5EF4-FFF2-40B4-BE49-F238E27FC236}">
                <a16:creationId xmlns:a16="http://schemas.microsoft.com/office/drawing/2014/main" id="{15E994D5-3E96-F761-AA99-9E3142566BF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469824" y="4377019"/>
            <a:ext cx="3722176" cy="2480981"/>
          </a:xfrm>
          <a:prstGeom prst="rect">
            <a:avLst/>
          </a:prstGeom>
        </p:spPr>
      </p:pic>
      <p:sp>
        <p:nvSpPr>
          <p:cNvPr id="7" name="TextBox 6">
            <a:extLst>
              <a:ext uri="{FF2B5EF4-FFF2-40B4-BE49-F238E27FC236}">
                <a16:creationId xmlns:a16="http://schemas.microsoft.com/office/drawing/2014/main" id="{97C1BE0A-6236-42F8-7143-8C6A83F3F6C8}"/>
              </a:ext>
            </a:extLst>
          </p:cNvPr>
          <p:cNvSpPr txBox="1"/>
          <p:nvPr/>
        </p:nvSpPr>
        <p:spPr>
          <a:xfrm>
            <a:off x="0" y="6550223"/>
            <a:ext cx="2972154" cy="307777"/>
          </a:xfrm>
          <a:prstGeom prst="rect">
            <a:avLst/>
          </a:prstGeom>
          <a:noFill/>
        </p:spPr>
        <p:txBody>
          <a:bodyPr wrap="square" rtlCol="0">
            <a:spAutoFit/>
          </a:bodyPr>
          <a:lstStyle/>
          <a:p>
            <a:r>
              <a:rPr lang="en-US" sz="1400" dirty="0">
                <a:solidFill>
                  <a:schemeClr val="bg1"/>
                </a:solidFill>
              </a:rPr>
              <a:t>Hydrological station at </a:t>
            </a:r>
            <a:r>
              <a:rPr lang="en-US" sz="1400" dirty="0" err="1">
                <a:solidFill>
                  <a:schemeClr val="bg1"/>
                </a:solidFill>
              </a:rPr>
              <a:t>Chisapani</a:t>
            </a:r>
            <a:endParaRPr lang="en-US" sz="1400" dirty="0">
              <a:solidFill>
                <a:schemeClr val="bg1"/>
              </a:solidFill>
            </a:endParaRPr>
          </a:p>
        </p:txBody>
      </p:sp>
      <p:pic>
        <p:nvPicPr>
          <p:cNvPr id="12" name="Picture 11">
            <a:extLst>
              <a:ext uri="{FF2B5EF4-FFF2-40B4-BE49-F238E27FC236}">
                <a16:creationId xmlns:a16="http://schemas.microsoft.com/office/drawing/2014/main" id="{3CA73B99-709F-3AEE-31A5-3C5C277592BF}"/>
              </a:ext>
            </a:extLst>
          </p:cNvPr>
          <p:cNvPicPr>
            <a:picLocks noChangeAspect="1"/>
          </p:cNvPicPr>
          <p:nvPr/>
        </p:nvPicPr>
        <p:blipFill>
          <a:blip r:embed="rId9"/>
          <a:stretch>
            <a:fillRect/>
          </a:stretch>
        </p:blipFill>
        <p:spPr>
          <a:xfrm>
            <a:off x="8469824" y="6453151"/>
            <a:ext cx="1299600" cy="404849"/>
          </a:xfrm>
          <a:prstGeom prst="rect">
            <a:avLst/>
          </a:prstGeom>
        </p:spPr>
      </p:pic>
      <p:sp>
        <p:nvSpPr>
          <p:cNvPr id="3" name="TextBox 2">
            <a:extLst>
              <a:ext uri="{FF2B5EF4-FFF2-40B4-BE49-F238E27FC236}">
                <a16:creationId xmlns:a16="http://schemas.microsoft.com/office/drawing/2014/main" id="{2D78E36C-72AC-87D9-FBB3-A0FA97FF9EBE}"/>
              </a:ext>
            </a:extLst>
          </p:cNvPr>
          <p:cNvSpPr txBox="1"/>
          <p:nvPr/>
        </p:nvSpPr>
        <p:spPr>
          <a:xfrm>
            <a:off x="3293077" y="4127010"/>
            <a:ext cx="6252518" cy="2062103"/>
          </a:xfrm>
          <a:prstGeom prst="rect">
            <a:avLst/>
          </a:prstGeom>
          <a:noFill/>
        </p:spPr>
        <p:txBody>
          <a:bodyPr wrap="square">
            <a:spAutoFit/>
          </a:bodyPr>
          <a:lstStyle/>
          <a:p>
            <a:r>
              <a:rPr lang="en-US" sz="1600" b="0" i="0" u="none" strike="noStrike" baseline="0" dirty="0">
                <a:solidFill>
                  <a:srgbClr val="000000"/>
                </a:solidFill>
              </a:rPr>
              <a:t>Calculation of the drought indices:</a:t>
            </a:r>
          </a:p>
          <a:p>
            <a:r>
              <a:rPr lang="en-US" sz="1600" dirty="0">
                <a:solidFill>
                  <a:srgbClr val="000000"/>
                </a:solidFill>
              </a:rPr>
              <a:t>(used in this presentation)</a:t>
            </a:r>
          </a:p>
          <a:p>
            <a:endParaRPr lang="en-US" sz="1600" dirty="0">
              <a:solidFill>
                <a:srgbClr val="000000"/>
              </a:solidFill>
            </a:endParaRPr>
          </a:p>
          <a:p>
            <a:r>
              <a:rPr lang="en-US" sz="1600" b="0" i="1" u="none" strike="noStrike" baseline="0" dirty="0">
                <a:solidFill>
                  <a:srgbClr val="000000"/>
                </a:solidFill>
              </a:rPr>
              <a:t>Standardized Precipitation Index (SPI)</a:t>
            </a:r>
            <a:endParaRPr lang="en-US" sz="1600" dirty="0">
              <a:solidFill>
                <a:srgbClr val="000000"/>
              </a:solidFill>
            </a:endParaRPr>
          </a:p>
          <a:p>
            <a:r>
              <a:rPr lang="en-US" sz="1600" b="0" i="1" u="none" strike="noStrike" baseline="0" dirty="0">
                <a:solidFill>
                  <a:srgbClr val="000000"/>
                </a:solidFill>
              </a:rPr>
              <a:t>Standardized Precipitation Evapotranspiration Index (SPEI)</a:t>
            </a:r>
            <a:endParaRPr lang="en-US" sz="1600" dirty="0">
              <a:solidFill>
                <a:srgbClr val="000000"/>
              </a:solidFill>
            </a:endParaRPr>
          </a:p>
          <a:p>
            <a:r>
              <a:rPr lang="en-US" sz="1600" b="0" i="1" u="none" strike="noStrike" baseline="0" dirty="0">
                <a:solidFill>
                  <a:srgbClr val="000000"/>
                </a:solidFill>
              </a:rPr>
              <a:t>Reconnaissance Drought Index (RDI)</a:t>
            </a:r>
            <a:endParaRPr lang="en-US" sz="1600" dirty="0">
              <a:solidFill>
                <a:srgbClr val="000000"/>
              </a:solidFill>
            </a:endParaRPr>
          </a:p>
          <a:p>
            <a:r>
              <a:rPr lang="en-US" sz="1600" b="0" i="1" u="none" strike="noStrike" baseline="0" dirty="0">
                <a:solidFill>
                  <a:srgbClr val="000000"/>
                </a:solidFill>
              </a:rPr>
              <a:t>Self-Calibrated Palmer Drought Severity Index (</a:t>
            </a:r>
            <a:r>
              <a:rPr lang="en-US" sz="1600" b="0" i="1" u="none" strike="noStrike" baseline="0" dirty="0" err="1">
                <a:solidFill>
                  <a:srgbClr val="000000"/>
                </a:solidFill>
              </a:rPr>
              <a:t>sc</a:t>
            </a:r>
            <a:r>
              <a:rPr lang="en-US" sz="1600" b="0" i="1" u="none" strike="noStrike" baseline="0" dirty="0">
                <a:solidFill>
                  <a:srgbClr val="000000"/>
                </a:solidFill>
              </a:rPr>
              <a:t>-PDSI)</a:t>
            </a:r>
          </a:p>
          <a:p>
            <a:endParaRPr lang="en-US" sz="1600" i="1" dirty="0">
              <a:solidFill>
                <a:srgbClr val="000000"/>
              </a:solidFill>
            </a:endParaRPr>
          </a:p>
        </p:txBody>
      </p:sp>
    </p:spTree>
    <p:extLst>
      <p:ext uri="{BB962C8B-B14F-4D97-AF65-F5344CB8AC3E}">
        <p14:creationId xmlns:p14="http://schemas.microsoft.com/office/powerpoint/2010/main" val="2964813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Shape&#10;&#10;Description automatically generated">
            <a:extLst>
              <a:ext uri="{FF2B5EF4-FFF2-40B4-BE49-F238E27FC236}">
                <a16:creationId xmlns:a16="http://schemas.microsoft.com/office/drawing/2014/main" id="{E880B83D-6D75-4696-E954-C5590C7795C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9286" y="947858"/>
            <a:ext cx="5436314" cy="4495414"/>
          </a:xfrm>
        </p:spPr>
      </p:pic>
      <p:sp>
        <p:nvSpPr>
          <p:cNvPr id="7" name="TextBox 6">
            <a:extLst>
              <a:ext uri="{FF2B5EF4-FFF2-40B4-BE49-F238E27FC236}">
                <a16:creationId xmlns:a16="http://schemas.microsoft.com/office/drawing/2014/main" id="{DC837F70-2B4C-0ED9-B2ED-A369E862BFF4}"/>
              </a:ext>
            </a:extLst>
          </p:cNvPr>
          <p:cNvSpPr txBox="1"/>
          <p:nvPr/>
        </p:nvSpPr>
        <p:spPr>
          <a:xfrm>
            <a:off x="576521" y="5443272"/>
            <a:ext cx="6095128" cy="369332"/>
          </a:xfrm>
          <a:prstGeom prst="rect">
            <a:avLst/>
          </a:prstGeom>
          <a:noFill/>
        </p:spPr>
        <p:txBody>
          <a:bodyPr wrap="square">
            <a:spAutoFit/>
          </a:bodyPr>
          <a:lstStyle/>
          <a:p>
            <a:r>
              <a:rPr lang="en-US" dirty="0" err="1"/>
              <a:t>Spatio</a:t>
            </a:r>
            <a:r>
              <a:rPr lang="en-US" dirty="0"/>
              <a:t>-temporal distribution of SPI in </a:t>
            </a:r>
            <a:r>
              <a:rPr lang="en-US" dirty="0" err="1"/>
              <a:t>Karnali</a:t>
            </a:r>
            <a:r>
              <a:rPr lang="en-US" dirty="0"/>
              <a:t> basin.</a:t>
            </a:r>
          </a:p>
        </p:txBody>
      </p:sp>
      <p:sp>
        <p:nvSpPr>
          <p:cNvPr id="4" name="TextBox 3">
            <a:extLst>
              <a:ext uri="{FF2B5EF4-FFF2-40B4-BE49-F238E27FC236}">
                <a16:creationId xmlns:a16="http://schemas.microsoft.com/office/drawing/2014/main" id="{FA02FC48-EAA1-C027-D8E6-FBF13FBD76E8}"/>
              </a:ext>
            </a:extLst>
          </p:cNvPr>
          <p:cNvSpPr txBox="1"/>
          <p:nvPr/>
        </p:nvSpPr>
        <p:spPr>
          <a:xfrm>
            <a:off x="6429282" y="4566109"/>
            <a:ext cx="5436312" cy="1754326"/>
          </a:xfrm>
          <a:prstGeom prst="rect">
            <a:avLst/>
          </a:prstGeom>
          <a:noFill/>
        </p:spPr>
        <p:txBody>
          <a:bodyPr wrap="square">
            <a:spAutoFit/>
          </a:bodyPr>
          <a:lstStyle/>
          <a:p>
            <a:r>
              <a:rPr lang="en-US" dirty="0"/>
              <a:t>Based on the long-term time series of precipitation (</a:t>
            </a:r>
            <a:r>
              <a:rPr lang="en-US" dirty="0">
                <a:hlinkClick r:id="rId3"/>
              </a:rPr>
              <a:t>McKee et al., 1993</a:t>
            </a:r>
            <a:r>
              <a:rPr lang="en-US" dirty="0"/>
              <a:t>).</a:t>
            </a:r>
          </a:p>
          <a:p>
            <a:endParaRPr lang="en-US" dirty="0"/>
          </a:p>
          <a:p>
            <a:r>
              <a:rPr lang="en-US" dirty="0"/>
              <a:t>This study uses SPI_SL_6. exe tool available at National Drought Mitigation Centre maintained by University of Nebraska.</a:t>
            </a:r>
          </a:p>
        </p:txBody>
      </p:sp>
    </p:spTree>
    <p:extLst>
      <p:ext uri="{BB962C8B-B14F-4D97-AF65-F5344CB8AC3E}">
        <p14:creationId xmlns:p14="http://schemas.microsoft.com/office/powerpoint/2010/main" val="32212387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315DFE1-138E-9E09-F6EF-D74B6B8BF811}"/>
              </a:ext>
            </a:extLst>
          </p:cNvPr>
          <p:cNvSpPr txBox="1"/>
          <p:nvPr/>
        </p:nvSpPr>
        <p:spPr>
          <a:xfrm>
            <a:off x="0" y="4450205"/>
            <a:ext cx="5421856" cy="369332"/>
          </a:xfrm>
          <a:prstGeom prst="rect">
            <a:avLst/>
          </a:prstGeom>
          <a:noFill/>
        </p:spPr>
        <p:txBody>
          <a:bodyPr wrap="square">
            <a:spAutoFit/>
          </a:bodyPr>
          <a:lstStyle/>
          <a:p>
            <a:r>
              <a:rPr lang="en-US" dirty="0" err="1"/>
              <a:t>Spatio</a:t>
            </a:r>
            <a:r>
              <a:rPr lang="en-US" dirty="0"/>
              <a:t>-temporal distribution of </a:t>
            </a:r>
            <a:r>
              <a:rPr lang="en-US" dirty="0" err="1"/>
              <a:t>sc</a:t>
            </a:r>
            <a:r>
              <a:rPr lang="en-US" dirty="0"/>
              <a:t>-PDSI in </a:t>
            </a:r>
            <a:r>
              <a:rPr lang="en-US" dirty="0" err="1"/>
              <a:t>Karnali</a:t>
            </a:r>
            <a:r>
              <a:rPr lang="en-US" dirty="0"/>
              <a:t> basin.</a:t>
            </a:r>
          </a:p>
        </p:txBody>
      </p:sp>
      <p:pic>
        <p:nvPicPr>
          <p:cNvPr id="6" name="Content Placeholder 6" descr="Shape&#10;&#10;Description automatically generated">
            <a:extLst>
              <a:ext uri="{FF2B5EF4-FFF2-40B4-BE49-F238E27FC236}">
                <a16:creationId xmlns:a16="http://schemas.microsoft.com/office/drawing/2014/main" id="{B5A67A47-0EEF-A451-53AE-A8B8574427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531" y="186007"/>
            <a:ext cx="5421856" cy="4305591"/>
          </a:xfrm>
          <a:prstGeom prst="rect">
            <a:avLst/>
          </a:prstGeom>
        </p:spPr>
      </p:pic>
      <p:pic>
        <p:nvPicPr>
          <p:cNvPr id="8" name="Picture 7" descr="A picture containing chart&#10;&#10;Description automatically generated">
            <a:extLst>
              <a:ext uri="{FF2B5EF4-FFF2-40B4-BE49-F238E27FC236}">
                <a16:creationId xmlns:a16="http://schemas.microsoft.com/office/drawing/2014/main" id="{6B8D807F-0CE0-055F-7504-831242ADDF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4553" y="169518"/>
            <a:ext cx="5227455" cy="4280687"/>
          </a:xfrm>
          <a:prstGeom prst="rect">
            <a:avLst/>
          </a:prstGeom>
        </p:spPr>
      </p:pic>
      <p:sp>
        <p:nvSpPr>
          <p:cNvPr id="9" name="TextBox 8">
            <a:extLst>
              <a:ext uri="{FF2B5EF4-FFF2-40B4-BE49-F238E27FC236}">
                <a16:creationId xmlns:a16="http://schemas.microsoft.com/office/drawing/2014/main" id="{4700199C-76EC-6A5E-A92D-B3893F8C1825}"/>
              </a:ext>
            </a:extLst>
          </p:cNvPr>
          <p:cNvSpPr txBox="1"/>
          <p:nvPr/>
        </p:nvSpPr>
        <p:spPr>
          <a:xfrm>
            <a:off x="6326912" y="4396740"/>
            <a:ext cx="5362738" cy="369332"/>
          </a:xfrm>
          <a:prstGeom prst="rect">
            <a:avLst/>
          </a:prstGeom>
          <a:noFill/>
        </p:spPr>
        <p:txBody>
          <a:bodyPr wrap="square">
            <a:spAutoFit/>
          </a:bodyPr>
          <a:lstStyle/>
          <a:p>
            <a:r>
              <a:rPr lang="en-US" dirty="0" err="1"/>
              <a:t>Spatio</a:t>
            </a:r>
            <a:r>
              <a:rPr lang="en-US" dirty="0"/>
              <a:t>-temporal distribution of SPEI in </a:t>
            </a:r>
            <a:r>
              <a:rPr lang="en-US" dirty="0" err="1"/>
              <a:t>Karnali</a:t>
            </a:r>
            <a:r>
              <a:rPr lang="en-US" dirty="0"/>
              <a:t> basin</a:t>
            </a:r>
          </a:p>
        </p:txBody>
      </p:sp>
      <p:sp>
        <p:nvSpPr>
          <p:cNvPr id="11" name="TextBox 10">
            <a:extLst>
              <a:ext uri="{FF2B5EF4-FFF2-40B4-BE49-F238E27FC236}">
                <a16:creationId xmlns:a16="http://schemas.microsoft.com/office/drawing/2014/main" id="{DBF998F7-32BB-FEA3-D0E7-38869AA24CAF}"/>
              </a:ext>
            </a:extLst>
          </p:cNvPr>
          <p:cNvSpPr txBox="1"/>
          <p:nvPr/>
        </p:nvSpPr>
        <p:spPr>
          <a:xfrm>
            <a:off x="6229676" y="5111266"/>
            <a:ext cx="6096000" cy="923330"/>
          </a:xfrm>
          <a:prstGeom prst="rect">
            <a:avLst/>
          </a:prstGeom>
          <a:noFill/>
        </p:spPr>
        <p:txBody>
          <a:bodyPr wrap="square">
            <a:spAutoFit/>
          </a:bodyPr>
          <a:lstStyle/>
          <a:p>
            <a:r>
              <a:rPr lang="en-US" dirty="0"/>
              <a:t>The SPEI (</a:t>
            </a:r>
            <a:r>
              <a:rPr lang="en-US" dirty="0">
                <a:hlinkClick r:id="rId4"/>
              </a:rPr>
              <a:t>Vicente-Serrano et al., 2010</a:t>
            </a:r>
            <a:r>
              <a:rPr lang="en-US" dirty="0"/>
              <a:t>) is the monthly difference between precipitation and potential evapotranspiration (PET) (i.e., SPEI = P−PET</a:t>
            </a:r>
          </a:p>
        </p:txBody>
      </p:sp>
      <p:pic>
        <p:nvPicPr>
          <p:cNvPr id="13" name="Picture 12">
            <a:extLst>
              <a:ext uri="{FF2B5EF4-FFF2-40B4-BE49-F238E27FC236}">
                <a16:creationId xmlns:a16="http://schemas.microsoft.com/office/drawing/2014/main" id="{B3DCDD05-E7D2-A75D-AE12-354A26D52E6D}"/>
              </a:ext>
            </a:extLst>
          </p:cNvPr>
          <p:cNvPicPr>
            <a:picLocks noChangeAspect="1"/>
          </p:cNvPicPr>
          <p:nvPr/>
        </p:nvPicPr>
        <p:blipFill>
          <a:blip r:embed="rId5"/>
          <a:stretch>
            <a:fillRect/>
          </a:stretch>
        </p:blipFill>
        <p:spPr>
          <a:xfrm>
            <a:off x="6340274" y="6230962"/>
            <a:ext cx="3547437" cy="545760"/>
          </a:xfrm>
          <a:prstGeom prst="rect">
            <a:avLst/>
          </a:prstGeom>
        </p:spPr>
      </p:pic>
      <p:sp>
        <p:nvSpPr>
          <p:cNvPr id="15" name="TextBox 14">
            <a:extLst>
              <a:ext uri="{FF2B5EF4-FFF2-40B4-BE49-F238E27FC236}">
                <a16:creationId xmlns:a16="http://schemas.microsoft.com/office/drawing/2014/main" id="{4EAD48FC-4D5C-13B5-4E08-CB1AD080080C}"/>
              </a:ext>
            </a:extLst>
          </p:cNvPr>
          <p:cNvSpPr txBox="1"/>
          <p:nvPr/>
        </p:nvSpPr>
        <p:spPr>
          <a:xfrm>
            <a:off x="244274" y="5095347"/>
            <a:ext cx="5851726" cy="1754326"/>
          </a:xfrm>
          <a:prstGeom prst="rect">
            <a:avLst/>
          </a:prstGeom>
          <a:noFill/>
        </p:spPr>
        <p:txBody>
          <a:bodyPr wrap="square">
            <a:spAutoFit/>
          </a:bodyPr>
          <a:lstStyle/>
          <a:p>
            <a:r>
              <a:rPr lang="en-US" dirty="0"/>
              <a:t>Palmer Drought Severity Index (PDSI) was calculated to measure the duration and intensity of long-term drought (</a:t>
            </a:r>
            <a:r>
              <a:rPr lang="en-US" dirty="0">
                <a:hlinkClick r:id="rId6"/>
              </a:rPr>
              <a:t>Palmer, 1965</a:t>
            </a:r>
            <a:r>
              <a:rPr lang="en-US" dirty="0"/>
              <a:t>; </a:t>
            </a:r>
            <a:r>
              <a:rPr lang="en-US" dirty="0">
                <a:hlinkClick r:id="rId7"/>
              </a:rPr>
              <a:t>Guttman et al., 1992</a:t>
            </a:r>
            <a:r>
              <a:rPr lang="en-US" dirty="0"/>
              <a:t>) with monthly temperature and precipitation as inputs. </a:t>
            </a:r>
          </a:p>
          <a:p>
            <a:r>
              <a:rPr lang="en-US" dirty="0"/>
              <a:t>For this analysis the software from </a:t>
            </a:r>
            <a:r>
              <a:rPr lang="en-US" dirty="0" err="1"/>
              <a:t>greenleaf</a:t>
            </a:r>
            <a:r>
              <a:rPr lang="en-US" dirty="0"/>
              <a:t> project was used</a:t>
            </a:r>
          </a:p>
        </p:txBody>
      </p:sp>
    </p:spTree>
    <p:extLst>
      <p:ext uri="{BB962C8B-B14F-4D97-AF65-F5344CB8AC3E}">
        <p14:creationId xmlns:p14="http://schemas.microsoft.com/office/powerpoint/2010/main" val="1027843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randombar(horizontal)">
                                      <p:cBhvr>
                                        <p:cTn id="10" dur="500"/>
                                        <p:tgtEl>
                                          <p:spTgt spid="9"/>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randombar(horizontal)">
                                      <p:cBhvr>
                                        <p:cTn id="13" dur="500"/>
                                        <p:tgtEl>
                                          <p:spTgt spid="11"/>
                                        </p:tgtEl>
                                      </p:cBhvr>
                                    </p:animEffect>
                                  </p:childTnLst>
                                </p:cTn>
                              </p:par>
                              <p:par>
                                <p:cTn id="14" presetID="14" presetClass="entr" presetSubtype="10"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randombar(horizontal)">
                                      <p:cBhvr>
                                        <p:cTn id="1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7235322-43A2-0BF2-8A05-DFDA5CC44517}"/>
              </a:ext>
            </a:extLst>
          </p:cNvPr>
          <p:cNvPicPr>
            <a:picLocks noChangeAspect="1"/>
          </p:cNvPicPr>
          <p:nvPr/>
        </p:nvPicPr>
        <p:blipFill>
          <a:blip r:embed="rId2"/>
          <a:stretch>
            <a:fillRect/>
          </a:stretch>
        </p:blipFill>
        <p:spPr>
          <a:xfrm>
            <a:off x="-1" y="-1"/>
            <a:ext cx="5959929" cy="6822907"/>
          </a:xfrm>
          <a:prstGeom prst="rect">
            <a:avLst/>
          </a:prstGeom>
        </p:spPr>
      </p:pic>
      <p:pic>
        <p:nvPicPr>
          <p:cNvPr id="6" name="Picture 5">
            <a:extLst>
              <a:ext uri="{FF2B5EF4-FFF2-40B4-BE49-F238E27FC236}">
                <a16:creationId xmlns:a16="http://schemas.microsoft.com/office/drawing/2014/main" id="{BF6F0D61-C28A-F0E6-E8F8-C0B5AC69A064}"/>
              </a:ext>
            </a:extLst>
          </p:cNvPr>
          <p:cNvPicPr>
            <a:picLocks noChangeAspect="1"/>
          </p:cNvPicPr>
          <p:nvPr/>
        </p:nvPicPr>
        <p:blipFill rotWithShape="1">
          <a:blip r:embed="rId3"/>
          <a:srcRect l="41524"/>
          <a:stretch/>
        </p:blipFill>
        <p:spPr>
          <a:xfrm>
            <a:off x="6518656" y="3576008"/>
            <a:ext cx="5673344" cy="2294436"/>
          </a:xfrm>
          <a:prstGeom prst="rect">
            <a:avLst/>
          </a:prstGeom>
        </p:spPr>
      </p:pic>
      <p:sp>
        <p:nvSpPr>
          <p:cNvPr id="7" name="TextBox 6">
            <a:extLst>
              <a:ext uri="{FF2B5EF4-FFF2-40B4-BE49-F238E27FC236}">
                <a16:creationId xmlns:a16="http://schemas.microsoft.com/office/drawing/2014/main" id="{7D934915-FFA1-F161-76B0-C55CD1F2F14B}"/>
              </a:ext>
            </a:extLst>
          </p:cNvPr>
          <p:cNvSpPr txBox="1"/>
          <p:nvPr/>
        </p:nvSpPr>
        <p:spPr>
          <a:xfrm>
            <a:off x="6096000" y="5975441"/>
            <a:ext cx="5508169" cy="646331"/>
          </a:xfrm>
          <a:prstGeom prst="rect">
            <a:avLst/>
          </a:prstGeom>
          <a:noFill/>
        </p:spPr>
        <p:txBody>
          <a:bodyPr wrap="square">
            <a:spAutoFit/>
          </a:bodyPr>
          <a:lstStyle/>
          <a:p>
            <a:r>
              <a:rPr lang="en-US" dirty="0"/>
              <a:t>Correlation among the different indices. Highlighted values are statistically significance at 95% confidence.</a:t>
            </a:r>
          </a:p>
        </p:txBody>
      </p:sp>
      <p:pic>
        <p:nvPicPr>
          <p:cNvPr id="8" name="Picture 7">
            <a:extLst>
              <a:ext uri="{FF2B5EF4-FFF2-40B4-BE49-F238E27FC236}">
                <a16:creationId xmlns:a16="http://schemas.microsoft.com/office/drawing/2014/main" id="{ABC81F96-771E-7422-4C77-C6CD24BDFBB2}"/>
              </a:ext>
            </a:extLst>
          </p:cNvPr>
          <p:cNvPicPr>
            <a:picLocks noChangeAspect="1"/>
          </p:cNvPicPr>
          <p:nvPr/>
        </p:nvPicPr>
        <p:blipFill rotWithShape="1">
          <a:blip r:embed="rId3"/>
          <a:srcRect r="58029"/>
          <a:stretch/>
        </p:blipFill>
        <p:spPr>
          <a:xfrm>
            <a:off x="6096000" y="1022272"/>
            <a:ext cx="4271319" cy="2406728"/>
          </a:xfrm>
          <a:prstGeom prst="rect">
            <a:avLst/>
          </a:prstGeom>
        </p:spPr>
      </p:pic>
      <p:pic>
        <p:nvPicPr>
          <p:cNvPr id="10" name="Picture 9">
            <a:extLst>
              <a:ext uri="{FF2B5EF4-FFF2-40B4-BE49-F238E27FC236}">
                <a16:creationId xmlns:a16="http://schemas.microsoft.com/office/drawing/2014/main" id="{C8DAAFB7-764C-352E-8061-D6D553924472}"/>
              </a:ext>
            </a:extLst>
          </p:cNvPr>
          <p:cNvPicPr>
            <a:picLocks noChangeAspect="1"/>
          </p:cNvPicPr>
          <p:nvPr/>
        </p:nvPicPr>
        <p:blipFill rotWithShape="1">
          <a:blip r:embed="rId3"/>
          <a:srcRect l="1285" t="15502" r="94345" b="45826"/>
          <a:stretch/>
        </p:blipFill>
        <p:spPr>
          <a:xfrm>
            <a:off x="6086892" y="3902527"/>
            <a:ext cx="431764" cy="996043"/>
          </a:xfrm>
          <a:prstGeom prst="rect">
            <a:avLst/>
          </a:prstGeom>
        </p:spPr>
      </p:pic>
      <p:pic>
        <p:nvPicPr>
          <p:cNvPr id="13" name="Picture 12">
            <a:extLst>
              <a:ext uri="{FF2B5EF4-FFF2-40B4-BE49-F238E27FC236}">
                <a16:creationId xmlns:a16="http://schemas.microsoft.com/office/drawing/2014/main" id="{FC3BCC2C-FF3A-D9B0-8F87-36788CB8AFE7}"/>
              </a:ext>
            </a:extLst>
          </p:cNvPr>
          <p:cNvPicPr>
            <a:picLocks noChangeAspect="1"/>
          </p:cNvPicPr>
          <p:nvPr/>
        </p:nvPicPr>
        <p:blipFill rotWithShape="1">
          <a:blip r:embed="rId3"/>
          <a:srcRect l="1285" t="15502" r="94345" b="45826"/>
          <a:stretch/>
        </p:blipFill>
        <p:spPr>
          <a:xfrm>
            <a:off x="6054235" y="5032627"/>
            <a:ext cx="431764" cy="996043"/>
          </a:xfrm>
          <a:prstGeom prst="rect">
            <a:avLst/>
          </a:prstGeom>
        </p:spPr>
      </p:pic>
      <p:sp>
        <p:nvSpPr>
          <p:cNvPr id="2" name="Oval 1">
            <a:extLst>
              <a:ext uri="{FF2B5EF4-FFF2-40B4-BE49-F238E27FC236}">
                <a16:creationId xmlns:a16="http://schemas.microsoft.com/office/drawing/2014/main" id="{5DF625CD-9CB8-92C5-2F7E-FB015150897C}"/>
              </a:ext>
            </a:extLst>
          </p:cNvPr>
          <p:cNvSpPr/>
          <p:nvPr/>
        </p:nvSpPr>
        <p:spPr>
          <a:xfrm>
            <a:off x="8328454" y="5640859"/>
            <a:ext cx="383060" cy="22958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F0A46F37-921C-614E-0CD1-4A7626DFE1C5}"/>
              </a:ext>
            </a:extLst>
          </p:cNvPr>
          <p:cNvSpPr/>
          <p:nvPr/>
        </p:nvSpPr>
        <p:spPr>
          <a:xfrm>
            <a:off x="10256575" y="4148083"/>
            <a:ext cx="383060" cy="22958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745DBA40-3175-FEE8-7D82-D5EE93125706}"/>
              </a:ext>
            </a:extLst>
          </p:cNvPr>
          <p:cNvSpPr/>
          <p:nvPr/>
        </p:nvSpPr>
        <p:spPr>
          <a:xfrm>
            <a:off x="8333952" y="5416704"/>
            <a:ext cx="383060" cy="22958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1CC98E1-2B26-FF05-B998-94E134908C7D}"/>
              </a:ext>
            </a:extLst>
          </p:cNvPr>
          <p:cNvSpPr/>
          <p:nvPr/>
        </p:nvSpPr>
        <p:spPr>
          <a:xfrm>
            <a:off x="8332805" y="3009976"/>
            <a:ext cx="383060" cy="22958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983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par>
                                <p:cTn id="8" presetID="14" presetClass="entr" presetSubtype="1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randombar(horizontal)">
                                      <p:cBhvr>
                                        <p:cTn id="10" dur="500"/>
                                        <p:tgtEl>
                                          <p:spTgt spid="6"/>
                                        </p:tgtEl>
                                      </p:cBhvr>
                                    </p:animEffect>
                                  </p:childTnLst>
                                </p:cTn>
                              </p:par>
                              <p:par>
                                <p:cTn id="11" presetID="14" presetClass="entr" presetSubtype="1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randombar(horizontal)">
                                      <p:cBhvr>
                                        <p:cTn id="13" dur="500"/>
                                        <p:tgtEl>
                                          <p:spTgt spid="13"/>
                                        </p:tgtEl>
                                      </p:cBhvr>
                                    </p:animEffect>
                                  </p:childTnLst>
                                </p:cTn>
                              </p:par>
                              <p:par>
                                <p:cTn id="14" presetID="14" presetClass="entr" presetSubtype="1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randombar(horizontal)">
                                      <p:cBhvr>
                                        <p:cTn id="16" dur="500"/>
                                        <p:tgtEl>
                                          <p:spTgt spid="10"/>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randombar(horizontal)">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additive="base">
                                        <p:cTn id="24" dur="500" fill="hold"/>
                                        <p:tgtEl>
                                          <p:spTgt spid="9"/>
                                        </p:tgtEl>
                                        <p:attrNameLst>
                                          <p:attrName>ppt_x</p:attrName>
                                        </p:attrNameLst>
                                      </p:cBhvr>
                                      <p:tavLst>
                                        <p:tav tm="0">
                                          <p:val>
                                            <p:strVal val="#ppt_x"/>
                                          </p:val>
                                        </p:tav>
                                        <p:tav tm="100000">
                                          <p:val>
                                            <p:strVal val="#ppt_x"/>
                                          </p:val>
                                        </p:tav>
                                      </p:tavLst>
                                    </p:anim>
                                    <p:anim calcmode="lin" valueType="num">
                                      <p:cBhvr additive="base">
                                        <p:cTn id="25" dur="500" fill="hold"/>
                                        <p:tgtEl>
                                          <p:spTgt spid="9"/>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4"/>
                                        </p:tgtEl>
                                        <p:attrNameLst>
                                          <p:attrName>style.visibility</p:attrName>
                                        </p:attrNameLst>
                                      </p:cBhvr>
                                      <p:to>
                                        <p:strVal val="visible"/>
                                      </p:to>
                                    </p:set>
                                    <p:anim calcmode="lin" valueType="num">
                                      <p:cBhvr additive="base">
                                        <p:cTn id="28" dur="500" fill="hold"/>
                                        <p:tgtEl>
                                          <p:spTgt spid="4"/>
                                        </p:tgtEl>
                                        <p:attrNameLst>
                                          <p:attrName>ppt_x</p:attrName>
                                        </p:attrNameLst>
                                      </p:cBhvr>
                                      <p:tavLst>
                                        <p:tav tm="0">
                                          <p:val>
                                            <p:strVal val="#ppt_x"/>
                                          </p:val>
                                        </p:tav>
                                        <p:tav tm="100000">
                                          <p:val>
                                            <p:strVal val="#ppt_x"/>
                                          </p:val>
                                        </p:tav>
                                      </p:tavLst>
                                    </p:anim>
                                    <p:anim calcmode="lin" valueType="num">
                                      <p:cBhvr additive="base">
                                        <p:cTn id="29" dur="500" fill="hold"/>
                                        <p:tgtEl>
                                          <p:spTgt spid="4"/>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additive="base">
                                        <p:cTn id="32" dur="500" fill="hold"/>
                                        <p:tgtEl>
                                          <p:spTgt spid="2"/>
                                        </p:tgtEl>
                                        <p:attrNameLst>
                                          <p:attrName>ppt_x</p:attrName>
                                        </p:attrNameLst>
                                      </p:cBhvr>
                                      <p:tavLst>
                                        <p:tav tm="0">
                                          <p:val>
                                            <p:strVal val="#ppt_x"/>
                                          </p:val>
                                        </p:tav>
                                        <p:tav tm="100000">
                                          <p:val>
                                            <p:strVal val="#ppt_x"/>
                                          </p:val>
                                        </p:tav>
                                      </p:tavLst>
                                    </p:anim>
                                    <p:anim calcmode="lin" valueType="num">
                                      <p:cBhvr additive="base">
                                        <p:cTn id="33" dur="500" fill="hold"/>
                                        <p:tgtEl>
                                          <p:spTgt spid="2"/>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3"/>
                                        </p:tgtEl>
                                        <p:attrNameLst>
                                          <p:attrName>style.visibility</p:attrName>
                                        </p:attrNameLst>
                                      </p:cBhvr>
                                      <p:to>
                                        <p:strVal val="visible"/>
                                      </p:to>
                                    </p:set>
                                    <p:anim calcmode="lin" valueType="num">
                                      <p:cBhvr additive="base">
                                        <p:cTn id="36" dur="500" fill="hold"/>
                                        <p:tgtEl>
                                          <p:spTgt spid="3"/>
                                        </p:tgtEl>
                                        <p:attrNameLst>
                                          <p:attrName>ppt_x</p:attrName>
                                        </p:attrNameLst>
                                      </p:cBhvr>
                                      <p:tavLst>
                                        <p:tav tm="0">
                                          <p:val>
                                            <p:strVal val="#ppt_x"/>
                                          </p:val>
                                        </p:tav>
                                        <p:tav tm="100000">
                                          <p:val>
                                            <p:strVal val="#ppt_x"/>
                                          </p:val>
                                        </p:tav>
                                      </p:tavLst>
                                    </p:anim>
                                    <p:anim calcmode="lin" valueType="num">
                                      <p:cBhvr additive="base">
                                        <p:cTn id="37"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animBg="1"/>
      <p:bldP spid="3" grpId="0" animBg="1"/>
      <p:bldP spid="4"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D404B55-CA57-7610-57E0-96E3B7AC98E3}"/>
              </a:ext>
            </a:extLst>
          </p:cNvPr>
          <p:cNvSpPr txBox="1"/>
          <p:nvPr/>
        </p:nvSpPr>
        <p:spPr>
          <a:xfrm>
            <a:off x="6096000" y="604091"/>
            <a:ext cx="6098720" cy="5016758"/>
          </a:xfrm>
          <a:prstGeom prst="rect">
            <a:avLst/>
          </a:prstGeom>
          <a:noFill/>
        </p:spPr>
        <p:txBody>
          <a:bodyPr wrap="square">
            <a:spAutoFit/>
          </a:bodyPr>
          <a:lstStyle/>
          <a:p>
            <a:r>
              <a:rPr lang="en-US" sz="1600" b="1" dirty="0"/>
              <a:t>Influence of filling of data: Yes</a:t>
            </a:r>
          </a:p>
          <a:p>
            <a:r>
              <a:rPr lang="en-US" sz="1600" dirty="0"/>
              <a:t>In station 218, the year 1981 and 2011 had been filled and it seems that the PDSI is influenced by these filled values.</a:t>
            </a:r>
          </a:p>
          <a:p>
            <a:endParaRPr lang="en-US" sz="1600" dirty="0"/>
          </a:p>
          <a:p>
            <a:r>
              <a:rPr lang="en-US" sz="1600" dirty="0"/>
              <a:t>For the station no 401, the data of the years 2011 and 2012 were filled and the extreme values were reflected in the SPI indices. </a:t>
            </a:r>
          </a:p>
          <a:p>
            <a:endParaRPr lang="en-US" sz="1600" dirty="0"/>
          </a:p>
          <a:p>
            <a:r>
              <a:rPr lang="en-US" sz="1600" b="1" dirty="0"/>
              <a:t>Influence of filling of data: No</a:t>
            </a:r>
          </a:p>
          <a:p>
            <a:r>
              <a:rPr lang="en-US" sz="1600" dirty="0"/>
              <a:t>The temperature data of station 514 was filled mostly during the year 1981 and 1982, while the extreme dry is seen in the year 2010 in PDSI and 2004 in SPEI, therefore filling the data might have a little influence. </a:t>
            </a:r>
          </a:p>
          <a:p>
            <a:endParaRPr lang="en-US" sz="1600" dirty="0"/>
          </a:p>
          <a:p>
            <a:r>
              <a:rPr lang="en-US" sz="1600" dirty="0"/>
              <a:t>The station 513, the year 2010 was filled but it was not reflected as dry or wet extreme. </a:t>
            </a:r>
          </a:p>
          <a:p>
            <a:endParaRPr lang="en-US" sz="1600" dirty="0"/>
          </a:p>
          <a:p>
            <a:r>
              <a:rPr lang="en-US" sz="1600" b="1" dirty="0"/>
              <a:t>Influence of filling of data: Partial</a:t>
            </a:r>
          </a:p>
          <a:p>
            <a:r>
              <a:rPr lang="en-US" sz="1600" dirty="0"/>
              <a:t>In station 402, the temperature data was filled during the year 1996 and the precipitation was during the year 2013 and extreme from PDSI was reflected in both the years, however the extreme was not reflected in other indices. </a:t>
            </a:r>
          </a:p>
        </p:txBody>
      </p:sp>
      <p:sp>
        <p:nvSpPr>
          <p:cNvPr id="6" name="TextBox 5">
            <a:extLst>
              <a:ext uri="{FF2B5EF4-FFF2-40B4-BE49-F238E27FC236}">
                <a16:creationId xmlns:a16="http://schemas.microsoft.com/office/drawing/2014/main" id="{DC5DA803-E26B-7A0C-EF7D-23D8606FDB00}"/>
              </a:ext>
            </a:extLst>
          </p:cNvPr>
          <p:cNvSpPr txBox="1"/>
          <p:nvPr/>
        </p:nvSpPr>
        <p:spPr>
          <a:xfrm>
            <a:off x="209965" y="1113511"/>
            <a:ext cx="5572998" cy="2800767"/>
          </a:xfrm>
          <a:prstGeom prst="rect">
            <a:avLst/>
          </a:prstGeom>
          <a:noFill/>
        </p:spPr>
        <p:txBody>
          <a:bodyPr wrap="square">
            <a:spAutoFit/>
          </a:bodyPr>
          <a:lstStyle/>
          <a:p>
            <a:r>
              <a:rPr lang="en-US" sz="1600" dirty="0"/>
              <a:t>Missing rainfall data accounts for</a:t>
            </a:r>
          </a:p>
          <a:p>
            <a:r>
              <a:rPr lang="en-US" sz="1600" dirty="0"/>
              <a:t>&lt;1% for 8 stations, </a:t>
            </a:r>
          </a:p>
          <a:p>
            <a:r>
              <a:rPr lang="en-US" sz="1600" dirty="0"/>
              <a:t>2–5% for 14 stations, and </a:t>
            </a:r>
          </a:p>
          <a:p>
            <a:r>
              <a:rPr lang="en-US" sz="1600" dirty="0"/>
              <a:t>7–10% for 5 stations located in high-altitudes. </a:t>
            </a:r>
          </a:p>
          <a:p>
            <a:r>
              <a:rPr lang="en-US" sz="1600" dirty="0"/>
              <a:t>Missing data was filled using </a:t>
            </a:r>
            <a:r>
              <a:rPr lang="en-US" sz="1600" dirty="0" err="1"/>
              <a:t>krigging</a:t>
            </a:r>
            <a:r>
              <a:rPr lang="en-US" sz="1600" dirty="0"/>
              <a:t> and then monthly time-series was generated before </a:t>
            </a:r>
            <a:r>
              <a:rPr lang="en-US" sz="1600" dirty="0" err="1"/>
              <a:t>analysing</a:t>
            </a:r>
            <a:r>
              <a:rPr lang="en-US" sz="1600" dirty="0"/>
              <a:t>.</a:t>
            </a:r>
          </a:p>
          <a:p>
            <a:endParaRPr lang="en-US" sz="1600" dirty="0"/>
          </a:p>
          <a:p>
            <a:r>
              <a:rPr lang="en-US" sz="1600" dirty="0"/>
              <a:t>The missing temperature data, for up to three days, were filled from average of that week. For longer missing data, they were filled based on monthly regression equations established from the previous and preceding years.</a:t>
            </a:r>
          </a:p>
        </p:txBody>
      </p:sp>
    </p:spTree>
    <p:extLst>
      <p:ext uri="{BB962C8B-B14F-4D97-AF65-F5344CB8AC3E}">
        <p14:creationId xmlns:p14="http://schemas.microsoft.com/office/powerpoint/2010/main" val="31645899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9ACDEE6-AA61-16AC-788D-BE430CA5AE97}"/>
              </a:ext>
            </a:extLst>
          </p:cNvPr>
          <p:cNvSpPr txBox="1"/>
          <p:nvPr/>
        </p:nvSpPr>
        <p:spPr>
          <a:xfrm>
            <a:off x="795528" y="6111600"/>
            <a:ext cx="6324690" cy="646331"/>
          </a:xfrm>
          <a:prstGeom prst="rect">
            <a:avLst/>
          </a:prstGeom>
          <a:noFill/>
        </p:spPr>
        <p:txBody>
          <a:bodyPr wrap="square">
            <a:spAutoFit/>
          </a:bodyPr>
          <a:lstStyle/>
          <a:p>
            <a:r>
              <a:rPr lang="en-US" dirty="0"/>
              <a:t>Percentage of stations showing drought events in time-series of: a) monthly; b) winter; and c) monsoon.</a:t>
            </a:r>
          </a:p>
        </p:txBody>
      </p:sp>
      <p:pic>
        <p:nvPicPr>
          <p:cNvPr id="2" name="Picture 1">
            <a:extLst>
              <a:ext uri="{FF2B5EF4-FFF2-40B4-BE49-F238E27FC236}">
                <a16:creationId xmlns:a16="http://schemas.microsoft.com/office/drawing/2014/main" id="{0A214E17-0B3A-EBE4-73D7-E57CEB3D2517}"/>
              </a:ext>
            </a:extLst>
          </p:cNvPr>
          <p:cNvPicPr>
            <a:picLocks noChangeAspect="1"/>
          </p:cNvPicPr>
          <p:nvPr/>
        </p:nvPicPr>
        <p:blipFill>
          <a:blip r:embed="rId2"/>
          <a:stretch>
            <a:fillRect/>
          </a:stretch>
        </p:blipFill>
        <p:spPr>
          <a:xfrm>
            <a:off x="10118912" y="5095874"/>
            <a:ext cx="2073088" cy="1762125"/>
          </a:xfrm>
          <a:prstGeom prst="rect">
            <a:avLst/>
          </a:prstGeom>
          <a:effectLst/>
        </p:spPr>
      </p:pic>
      <p:pic>
        <p:nvPicPr>
          <p:cNvPr id="5" name="Content Placeholder 4" descr="Chart, bar chart&#10;&#10;Description automatically generated">
            <a:extLst>
              <a:ext uri="{FF2B5EF4-FFF2-40B4-BE49-F238E27FC236}">
                <a16:creationId xmlns:a16="http://schemas.microsoft.com/office/drawing/2014/main" id="{51FBD49A-5E48-7B64-EF33-9E4B5985A64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56836" y="256808"/>
            <a:ext cx="9971358" cy="5559033"/>
          </a:xfrm>
          <a:prstGeom prst="rect">
            <a:avLst/>
          </a:prstGeom>
        </p:spPr>
      </p:pic>
    </p:spTree>
    <p:extLst>
      <p:ext uri="{BB962C8B-B14F-4D97-AF65-F5344CB8AC3E}">
        <p14:creationId xmlns:p14="http://schemas.microsoft.com/office/powerpoint/2010/main" val="42065790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427AF5F-9A0E-42B7-A252-FD64C9885F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EE667B0-1173-897E-F5A6-907850183FE1}"/>
              </a:ext>
            </a:extLst>
          </p:cNvPr>
          <p:cNvSpPr>
            <a:spLocks noGrp="1"/>
          </p:cNvSpPr>
          <p:nvPr>
            <p:ph idx="1"/>
          </p:nvPr>
        </p:nvSpPr>
        <p:spPr>
          <a:xfrm>
            <a:off x="6206717" y="6159171"/>
            <a:ext cx="4526280" cy="334374"/>
          </a:xfrm>
        </p:spPr>
        <p:txBody>
          <a:bodyPr>
            <a:normAutofit/>
          </a:bodyPr>
          <a:lstStyle/>
          <a:p>
            <a:r>
              <a:rPr lang="en-US" sz="1400"/>
              <a:t>Sensitivity of crop production to precipitation change.</a:t>
            </a:r>
            <a:endParaRPr lang="en-US" sz="2000" dirty="0"/>
          </a:p>
        </p:txBody>
      </p:sp>
      <p:pic>
        <p:nvPicPr>
          <p:cNvPr id="5" name="Picture 4">
            <a:extLst>
              <a:ext uri="{FF2B5EF4-FFF2-40B4-BE49-F238E27FC236}">
                <a16:creationId xmlns:a16="http://schemas.microsoft.com/office/drawing/2014/main" id="{55F6C905-83B8-7B8A-CD3C-F2C354F276CE}"/>
              </a:ext>
            </a:extLst>
          </p:cNvPr>
          <p:cNvPicPr>
            <a:picLocks noChangeAspect="1"/>
          </p:cNvPicPr>
          <p:nvPr/>
        </p:nvPicPr>
        <p:blipFill rotWithShape="1">
          <a:blip r:embed="rId2"/>
          <a:srcRect r="1784" b="3"/>
          <a:stretch/>
        </p:blipFill>
        <p:spPr>
          <a:xfrm>
            <a:off x="6096000" y="2094360"/>
            <a:ext cx="5892691" cy="4034730"/>
          </a:xfrm>
          <a:prstGeom prst="rect">
            <a:avLst/>
          </a:prstGeom>
        </p:spPr>
      </p:pic>
      <p:sp>
        <p:nvSpPr>
          <p:cNvPr id="7" name="TextBox 6">
            <a:extLst>
              <a:ext uri="{FF2B5EF4-FFF2-40B4-BE49-F238E27FC236}">
                <a16:creationId xmlns:a16="http://schemas.microsoft.com/office/drawing/2014/main" id="{3EC9AAC7-8526-9158-483C-5FB12AEF0B64}"/>
              </a:ext>
            </a:extLst>
          </p:cNvPr>
          <p:cNvSpPr txBox="1"/>
          <p:nvPr/>
        </p:nvSpPr>
        <p:spPr>
          <a:xfrm>
            <a:off x="508560" y="405744"/>
            <a:ext cx="11305487" cy="707886"/>
          </a:xfrm>
          <a:prstGeom prst="rect">
            <a:avLst/>
          </a:prstGeom>
          <a:noFill/>
        </p:spPr>
        <p:txBody>
          <a:bodyPr wrap="square">
            <a:spAutoFit/>
          </a:bodyPr>
          <a:lstStyle/>
          <a:p>
            <a:r>
              <a:rPr lang="en-US" sz="2000" dirty="0"/>
              <a:t>In case of crop productivity, yield of major crops (i.e., paddy, maize, and millet) are influenced by precipitation pattern and anomaly in the KRB-districts, revealing drought impacts on crop production.</a:t>
            </a:r>
          </a:p>
        </p:txBody>
      </p:sp>
      <p:pic>
        <p:nvPicPr>
          <p:cNvPr id="9" name="Picture 8">
            <a:extLst>
              <a:ext uri="{FF2B5EF4-FFF2-40B4-BE49-F238E27FC236}">
                <a16:creationId xmlns:a16="http://schemas.microsoft.com/office/drawing/2014/main" id="{C44ABCF3-CDA6-10D8-FC77-A63CA98A7B21}"/>
              </a:ext>
            </a:extLst>
          </p:cNvPr>
          <p:cNvPicPr>
            <a:picLocks noChangeAspect="1"/>
          </p:cNvPicPr>
          <p:nvPr/>
        </p:nvPicPr>
        <p:blipFill>
          <a:blip r:embed="rId3"/>
          <a:stretch>
            <a:fillRect/>
          </a:stretch>
        </p:blipFill>
        <p:spPr>
          <a:xfrm>
            <a:off x="978187" y="2760595"/>
            <a:ext cx="4917553" cy="2077469"/>
          </a:xfrm>
          <a:prstGeom prst="rect">
            <a:avLst/>
          </a:prstGeom>
        </p:spPr>
      </p:pic>
      <p:pic>
        <p:nvPicPr>
          <p:cNvPr id="12" name="Picture 11">
            <a:extLst>
              <a:ext uri="{FF2B5EF4-FFF2-40B4-BE49-F238E27FC236}">
                <a16:creationId xmlns:a16="http://schemas.microsoft.com/office/drawing/2014/main" id="{03E76E23-82F0-1948-66DC-075C08CAF1F9}"/>
              </a:ext>
            </a:extLst>
          </p:cNvPr>
          <p:cNvPicPr>
            <a:picLocks noChangeAspect="1"/>
          </p:cNvPicPr>
          <p:nvPr/>
        </p:nvPicPr>
        <p:blipFill>
          <a:blip r:embed="rId4"/>
          <a:stretch>
            <a:fillRect/>
          </a:stretch>
        </p:blipFill>
        <p:spPr>
          <a:xfrm>
            <a:off x="5834780" y="3064750"/>
            <a:ext cx="238362" cy="1668531"/>
          </a:xfrm>
          <a:prstGeom prst="rect">
            <a:avLst/>
          </a:prstGeom>
        </p:spPr>
      </p:pic>
      <p:pic>
        <p:nvPicPr>
          <p:cNvPr id="2" name="Picture 1">
            <a:extLst>
              <a:ext uri="{FF2B5EF4-FFF2-40B4-BE49-F238E27FC236}">
                <a16:creationId xmlns:a16="http://schemas.microsoft.com/office/drawing/2014/main" id="{9B86C44A-E4A6-DE9E-D240-6C3D5657B17C}"/>
              </a:ext>
            </a:extLst>
          </p:cNvPr>
          <p:cNvPicPr>
            <a:picLocks noChangeAspect="1"/>
          </p:cNvPicPr>
          <p:nvPr/>
        </p:nvPicPr>
        <p:blipFill>
          <a:blip r:embed="rId5"/>
          <a:stretch>
            <a:fillRect/>
          </a:stretch>
        </p:blipFill>
        <p:spPr>
          <a:xfrm>
            <a:off x="-1" y="5090984"/>
            <a:ext cx="2073088" cy="1762125"/>
          </a:xfrm>
          <a:prstGeom prst="rect">
            <a:avLst/>
          </a:prstGeom>
          <a:effectLst/>
        </p:spPr>
      </p:pic>
    </p:spTree>
    <p:extLst>
      <p:ext uri="{BB962C8B-B14F-4D97-AF65-F5344CB8AC3E}">
        <p14:creationId xmlns:p14="http://schemas.microsoft.com/office/powerpoint/2010/main" val="20615073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6EE169D-FF2C-1ACC-7350-3DE7D214B4AA}"/>
              </a:ext>
            </a:extLst>
          </p:cNvPr>
          <p:cNvPicPr>
            <a:picLocks noChangeAspect="1"/>
          </p:cNvPicPr>
          <p:nvPr/>
        </p:nvPicPr>
        <p:blipFill>
          <a:blip r:embed="rId2"/>
          <a:stretch>
            <a:fillRect/>
          </a:stretch>
        </p:blipFill>
        <p:spPr>
          <a:xfrm rot="1482981">
            <a:off x="8887227" y="957426"/>
            <a:ext cx="2667333" cy="2688336"/>
          </a:xfrm>
          <a:prstGeom prst="rect">
            <a:avLst/>
          </a:prstGeom>
        </p:spPr>
      </p:pic>
      <p:pic>
        <p:nvPicPr>
          <p:cNvPr id="5" name="Picture 4">
            <a:extLst>
              <a:ext uri="{FF2B5EF4-FFF2-40B4-BE49-F238E27FC236}">
                <a16:creationId xmlns:a16="http://schemas.microsoft.com/office/drawing/2014/main" id="{72F9AE62-9797-9EBB-DB8B-CE2F025112EE}"/>
              </a:ext>
            </a:extLst>
          </p:cNvPr>
          <p:cNvPicPr>
            <a:picLocks noChangeAspect="1"/>
          </p:cNvPicPr>
          <p:nvPr/>
        </p:nvPicPr>
        <p:blipFill>
          <a:blip r:embed="rId3"/>
          <a:stretch>
            <a:fillRect/>
          </a:stretch>
        </p:blipFill>
        <p:spPr>
          <a:xfrm>
            <a:off x="256391" y="430876"/>
            <a:ext cx="6791674" cy="5143764"/>
          </a:xfrm>
          <a:prstGeom prst="rect">
            <a:avLst/>
          </a:prstGeom>
        </p:spPr>
      </p:pic>
      <p:pic>
        <p:nvPicPr>
          <p:cNvPr id="6" name="Picture 5">
            <a:extLst>
              <a:ext uri="{FF2B5EF4-FFF2-40B4-BE49-F238E27FC236}">
                <a16:creationId xmlns:a16="http://schemas.microsoft.com/office/drawing/2014/main" id="{3910AEFC-DD05-3748-0682-432A9B1F638D}"/>
              </a:ext>
            </a:extLst>
          </p:cNvPr>
          <p:cNvPicPr>
            <a:picLocks noChangeAspect="1"/>
          </p:cNvPicPr>
          <p:nvPr/>
        </p:nvPicPr>
        <p:blipFill>
          <a:blip r:embed="rId4"/>
          <a:stretch>
            <a:fillRect/>
          </a:stretch>
        </p:blipFill>
        <p:spPr>
          <a:xfrm rot="18876754">
            <a:off x="6762264" y="1283674"/>
            <a:ext cx="2415478" cy="4146743"/>
          </a:xfrm>
          <a:prstGeom prst="rect">
            <a:avLst/>
          </a:prstGeom>
        </p:spPr>
      </p:pic>
      <p:pic>
        <p:nvPicPr>
          <p:cNvPr id="7" name="Picture 6">
            <a:extLst>
              <a:ext uri="{FF2B5EF4-FFF2-40B4-BE49-F238E27FC236}">
                <a16:creationId xmlns:a16="http://schemas.microsoft.com/office/drawing/2014/main" id="{F23F1FEC-A76F-0CD5-ED62-0EA298ECE3C8}"/>
              </a:ext>
            </a:extLst>
          </p:cNvPr>
          <p:cNvPicPr>
            <a:picLocks noChangeAspect="1"/>
          </p:cNvPicPr>
          <p:nvPr/>
        </p:nvPicPr>
        <p:blipFill>
          <a:blip r:embed="rId5"/>
          <a:stretch>
            <a:fillRect/>
          </a:stretch>
        </p:blipFill>
        <p:spPr>
          <a:xfrm>
            <a:off x="8687631" y="3562047"/>
            <a:ext cx="3246120" cy="2012593"/>
          </a:xfrm>
          <a:prstGeom prst="rect">
            <a:avLst/>
          </a:prstGeom>
        </p:spPr>
      </p:pic>
    </p:spTree>
    <p:extLst>
      <p:ext uri="{BB962C8B-B14F-4D97-AF65-F5344CB8AC3E}">
        <p14:creationId xmlns:p14="http://schemas.microsoft.com/office/powerpoint/2010/main" val="164335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par>
                                <p:cTn id="8" presetID="14" presetClass="entr" presetSubtype="1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randombar(horizontal)">
                                      <p:cBhvr>
                                        <p:cTn id="10" dur="500"/>
                                        <p:tgtEl>
                                          <p:spTgt spid="8"/>
                                        </p:tgtEl>
                                      </p:cBhvr>
                                    </p:animEffect>
                                  </p:childTnLst>
                                </p:cTn>
                              </p:par>
                              <p:par>
                                <p:cTn id="11" presetID="14" presetClass="entr" presetSubtype="1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randombar(horizontal)">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8190D5-FE67-DE04-5666-85A07FE3E16C}"/>
              </a:ext>
            </a:extLst>
          </p:cNvPr>
          <p:cNvSpPr>
            <a:spLocks noGrp="1"/>
          </p:cNvSpPr>
          <p:nvPr>
            <p:ph type="title"/>
          </p:nvPr>
        </p:nvSpPr>
        <p:spPr>
          <a:xfrm>
            <a:off x="838200" y="365125"/>
            <a:ext cx="10515600" cy="1325563"/>
          </a:xfrm>
        </p:spPr>
        <p:txBody>
          <a:bodyPr>
            <a:normAutofit/>
          </a:bodyPr>
          <a:lstStyle/>
          <a:p>
            <a:r>
              <a:rPr lang="en-US" sz="5400" dirty="0"/>
              <a:t>Take home message</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561AEF7-C2D1-17C4-6EA5-C1225157010A}"/>
              </a:ext>
            </a:extLst>
          </p:cNvPr>
          <p:cNvSpPr>
            <a:spLocks noGrp="1"/>
          </p:cNvSpPr>
          <p:nvPr>
            <p:ph idx="1"/>
          </p:nvPr>
        </p:nvSpPr>
        <p:spPr>
          <a:xfrm>
            <a:off x="838199" y="1929384"/>
            <a:ext cx="10517841" cy="4251960"/>
          </a:xfrm>
        </p:spPr>
        <p:txBody>
          <a:bodyPr>
            <a:normAutofit/>
          </a:bodyPr>
          <a:lstStyle/>
          <a:p>
            <a:r>
              <a:rPr lang="en-US" sz="2400" dirty="0"/>
              <a:t>An evaluation of different indices revealed that SPI is well correlated with other drought indices, and therefore is capable to represent drought dynamics fairly well in data-spare regions.</a:t>
            </a:r>
          </a:p>
        </p:txBody>
      </p:sp>
    </p:spTree>
    <p:extLst>
      <p:ext uri="{BB962C8B-B14F-4D97-AF65-F5344CB8AC3E}">
        <p14:creationId xmlns:p14="http://schemas.microsoft.com/office/powerpoint/2010/main" val="4155766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picture containing mountain, outdoor, building, bridge&#10;&#10;Description automatically generated">
            <a:extLst>
              <a:ext uri="{FF2B5EF4-FFF2-40B4-BE49-F238E27FC236}">
                <a16:creationId xmlns:a16="http://schemas.microsoft.com/office/drawing/2014/main" id="{951A5876-4F34-9362-7C32-C6A79D05A1CA}"/>
              </a:ext>
            </a:extLst>
          </p:cNvPr>
          <p:cNvPicPr>
            <a:picLocks noChangeAspect="1"/>
          </p:cNvPicPr>
          <p:nvPr/>
        </p:nvPicPr>
        <p:blipFill rotWithShape="1">
          <a:blip r:embed="rId2">
            <a:extLst>
              <a:ext uri="{28A0092B-C50C-407E-A947-70E740481C1C}">
                <a14:useLocalDpi xmlns:a14="http://schemas.microsoft.com/office/drawing/2010/main" val="0"/>
              </a:ext>
            </a:extLst>
          </a:blip>
          <a:srcRect t="5436"/>
          <a:stretch/>
        </p:blipFill>
        <p:spPr>
          <a:xfrm>
            <a:off x="-3047" y="0"/>
            <a:ext cx="9669642" cy="6857990"/>
          </a:xfrm>
          <a:prstGeom prst="rect">
            <a:avLst/>
          </a:prstGeom>
        </p:spPr>
      </p:pic>
      <p:sp>
        <p:nvSpPr>
          <p:cNvPr id="14" name="Rectangle 13">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6159D5-EF2F-FE80-79EF-5660938DC133}"/>
              </a:ext>
            </a:extLst>
          </p:cNvPr>
          <p:cNvSpPr>
            <a:spLocks noGrp="1"/>
          </p:cNvSpPr>
          <p:nvPr>
            <p:ph type="title"/>
          </p:nvPr>
        </p:nvSpPr>
        <p:spPr>
          <a:xfrm>
            <a:off x="7681361" y="1529088"/>
            <a:ext cx="3822189" cy="1899912"/>
          </a:xfrm>
        </p:spPr>
        <p:txBody>
          <a:bodyPr>
            <a:normAutofit/>
          </a:bodyPr>
          <a:lstStyle/>
          <a:p>
            <a:r>
              <a:rPr lang="en-US" sz="4000" dirty="0"/>
              <a:t>Thank you </a:t>
            </a:r>
            <a:r>
              <a:rPr lang="en-US" sz="4000" dirty="0">
                <a:sym typeface="Wingdings" panose="05000000000000000000" pitchFamily="2" charset="2"/>
              </a:rPr>
              <a:t> </a:t>
            </a:r>
            <a:endParaRPr lang="en-US" sz="4000" dirty="0"/>
          </a:p>
        </p:txBody>
      </p:sp>
      <p:sp>
        <p:nvSpPr>
          <p:cNvPr id="8" name="TextBox 7">
            <a:extLst>
              <a:ext uri="{FF2B5EF4-FFF2-40B4-BE49-F238E27FC236}">
                <a16:creationId xmlns:a16="http://schemas.microsoft.com/office/drawing/2014/main" id="{593D8739-E56F-5C40-8A59-D88CFE161E0B}"/>
              </a:ext>
            </a:extLst>
          </p:cNvPr>
          <p:cNvSpPr txBox="1"/>
          <p:nvPr/>
        </p:nvSpPr>
        <p:spPr>
          <a:xfrm>
            <a:off x="2336696" y="5994837"/>
            <a:ext cx="1445559" cy="369332"/>
          </a:xfrm>
          <a:prstGeom prst="rect">
            <a:avLst/>
          </a:prstGeom>
          <a:noFill/>
        </p:spPr>
        <p:txBody>
          <a:bodyPr wrap="square" rtlCol="0">
            <a:spAutoFit/>
          </a:bodyPr>
          <a:lstStyle/>
          <a:p>
            <a:r>
              <a:rPr lang="en-US" dirty="0"/>
              <a:t>© kabiraj</a:t>
            </a:r>
          </a:p>
        </p:txBody>
      </p:sp>
    </p:spTree>
    <p:extLst>
      <p:ext uri="{BB962C8B-B14F-4D97-AF65-F5344CB8AC3E}">
        <p14:creationId xmlns:p14="http://schemas.microsoft.com/office/powerpoint/2010/main" val="10695692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854B0-50A5-4B03-5FA8-7C04FE62CFC7}"/>
              </a:ext>
            </a:extLst>
          </p:cNvPr>
          <p:cNvSpPr>
            <a:spLocks noGrp="1"/>
          </p:cNvSpPr>
          <p:nvPr>
            <p:ph type="title"/>
          </p:nvPr>
        </p:nvSpPr>
        <p:spPr/>
        <p:txBody>
          <a:bodyPr>
            <a:normAutofit/>
          </a:bodyPr>
          <a:lstStyle/>
          <a:p>
            <a:r>
              <a:rPr lang="en-US" sz="3600" dirty="0"/>
              <a:t>Method used for sensitivity of crop production </a:t>
            </a:r>
          </a:p>
        </p:txBody>
      </p:sp>
      <p:sp>
        <p:nvSpPr>
          <p:cNvPr id="3" name="Content Placeholder 2">
            <a:extLst>
              <a:ext uri="{FF2B5EF4-FFF2-40B4-BE49-F238E27FC236}">
                <a16:creationId xmlns:a16="http://schemas.microsoft.com/office/drawing/2014/main" id="{5488A5C5-A92A-C725-43FE-87F83C0D8E68}"/>
              </a:ext>
            </a:extLst>
          </p:cNvPr>
          <p:cNvSpPr>
            <a:spLocks noGrp="1"/>
          </p:cNvSpPr>
          <p:nvPr>
            <p:ph idx="1"/>
          </p:nvPr>
        </p:nvSpPr>
        <p:spPr/>
        <p:txBody>
          <a:bodyPr>
            <a:normAutofit fontScale="92500" lnSpcReduction="10000"/>
          </a:bodyPr>
          <a:lstStyle/>
          <a:p>
            <a:r>
              <a:rPr lang="en-US" dirty="0"/>
              <a:t>The precipitation anomaly was calculated by dividing long-term average rainfall in the growing season (April and September) by the amount of rainfall in the same period for a given year. </a:t>
            </a:r>
          </a:p>
          <a:p>
            <a:endParaRPr lang="en-US" dirty="0"/>
          </a:p>
          <a:p>
            <a:r>
              <a:rPr lang="en-US" dirty="0"/>
              <a:t>Similarly, harvest anomaly index was calculated as a measure of deviation of the harvest production from the normal. </a:t>
            </a:r>
          </a:p>
          <a:p>
            <a:endParaRPr lang="en-US" dirty="0"/>
          </a:p>
          <a:p>
            <a:r>
              <a:rPr lang="en-US" dirty="0"/>
              <a:t>Finally, the harvest anomaly index for each crop was divided by the rainfall anomaly index, returning a high number for years when only small deviations from normal rainfall levels were matched with large deviations in harvest (</a:t>
            </a:r>
            <a:r>
              <a:rPr lang="en-US" dirty="0">
                <a:hlinkClick r:id="rId2"/>
              </a:rPr>
              <a:t>Fraser et al., 2008</a:t>
            </a:r>
            <a:r>
              <a:rPr lang="en-US" dirty="0"/>
              <a:t>). </a:t>
            </a:r>
          </a:p>
        </p:txBody>
      </p:sp>
    </p:spTree>
    <p:extLst>
      <p:ext uri="{BB962C8B-B14F-4D97-AF65-F5344CB8AC3E}">
        <p14:creationId xmlns:p14="http://schemas.microsoft.com/office/powerpoint/2010/main" val="290476619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9c742c4-e61c-4fa5-be89-a3cb566a80d1}" enabled="0" method="" siteId="{79c742c4-e61c-4fa5-be89-a3cb566a80d1}" removed="1"/>
</clbl:labelList>
</file>

<file path=docProps/app.xml><?xml version="1.0" encoding="utf-8"?>
<Properties xmlns="http://schemas.openxmlformats.org/officeDocument/2006/extended-properties" xmlns:vt="http://schemas.openxmlformats.org/officeDocument/2006/docPropsVTypes">
  <Template>Office Theme</Template>
  <TotalTime>540</TotalTime>
  <Words>1057</Words>
  <Application>Microsoft Office PowerPoint</Application>
  <PresentationFormat>Widescreen</PresentationFormat>
  <Paragraphs>91</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Wingdings</vt:lpstr>
      <vt:lpstr>Office Theme</vt:lpstr>
      <vt:lpstr>Characterization of hydro-meteorological drought in Nepal Himalaya:  A case of Karnali River Basin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Take home message</vt:lpstr>
      <vt:lpstr>Thank you  </vt:lpstr>
      <vt:lpstr>Method used for sensitivity of crop production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Kabi Raj Khatiwada</dc:creator>
  <cp:lastModifiedBy>Kabi Raj Khatiwada</cp:lastModifiedBy>
  <cp:revision>4</cp:revision>
  <dcterms:created xsi:type="dcterms:W3CDTF">2022-12-08T13:50:12Z</dcterms:created>
  <dcterms:modified xsi:type="dcterms:W3CDTF">2026-10-27T21:17:50Z</dcterms:modified>
</cp:coreProperties>
</file>